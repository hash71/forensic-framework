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speak slowly, you have time.
"Good morning. I'm Nazmul. My project asks a practical question: can we let an AI help investigate a security breach WITHOUT it making things up?
These small tags at the top are evidence IDs — the red one is a citation the system caught as invalid. That picture is the whole idea: make the AI cite its evidence, then automatically check it.
Let me start with why this problem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(Point at the seven cards.)
"When a private organisation — a bank, a hospital, a government office — gets attacked, the clues are scattered across seven separate systems: logins, file activity, admin actions, network, database, web, and email.
Unlike Amazon's cloud, there is NO single place to see it all — that's the big '0' on the right. So investigators piece it together by hand, which is slow and error-prone.
That manual reconstruction is the bottleneck we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EACH FLAWED. (Left column, then right.)
"There are two obvious options today, and each has a fatal flaw.
Rule engines — what industry uses — are reliable and transparent, but brittle: they flood analysts with false alarms and miss slow attacks spread over days.
A raw AI is the opposite: smart enough to connect the dots, but it hallucinates — invents evidence — which is unacceptable when a claim might end up in court.
We want the intelligence of the AI with the trustworthiness of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AND APPROACH. (Read the banner, then the 4 steps.)
"So our question is narrow: can an AI that may only use the given evidence — and must cite an event ID for every claim — beat the rule baseline while staying traceable?
The pipeline is four steps: normalise the seven sources into one format, build a timeline, run BOTH the rules and the AI on that same evidence, and finally validate every citation.
The key word is 'same' — both judges see identical evidence, so any difference is reasoning, not extra clues. It's a fair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(Trace the diagram left to right with your hand.)
"Here's the actual system. Evidence flows left to right: clean it up, build the timeline, then it splits — the rule engine and the AI both analyse it, the validator checks the AI's output, and everything goes to scoring.
This is not a mock-up. It's working software — Python, a database, Docker — with 59 automated tests passing. Every result I show comes from running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METHOD. (Left = AI answer, right = validator.)
"This slide is the core idea, made concrete. On the left is a REAL AI answer — notice every step cites a specific event ID, shown in teal. It doesn't just say 'user_03 did it'; it says 'see events evt_s4_002, evt_s4_010.'
On the right, the validator checks each citation: do the events exist? is the named user real? are the files real? Seven checks.
Here it passed six and FLAGGED one ordering mistake — which is the point: the check is real, it actually catches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TESTED IT FAIRLY. (Three number cards.)
"A fair test matters. We tuned the system on 15 hand-built scenarios — think practice problems.
Then we tested on 100 FRESH scenarios, generated automatically from a fixed recipe, so we could not hand-pick them — that's the real exam.
Everything I'm about to show is from those 100 unseen cases, including 34 deliberately tricky 'hard benign' ones: innocent activity designed to look alarming."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(Point at the AI's grid, then the table.)
"Here's the main result, and it's more interesting than a single number. Look at the AI's grid: zero missed attacks — it catches everything. But it also wrongly flags 22 of 44 innocent cases.
So overall it's 78 percent versus the rules' 70 — and honestly, at this sample size that gap is NOT statistically significant, and we say so.
The real finding is the shape: very high recall, at a real false-alarm cost. Remember that trade-off — it's the spine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CITATION-CHECKING WORK? (Four stat cards.)
"Yes. Across all 115 scenarios, 2,067 of 2,068 cited references were real events — 99.95 percent, zero invented IDs.
And it's repeatable: we reran it 110 times and got identical verdicts every time — that's the kappa of 1.0.
When we starve it of evidence, it says 'insufficient' rather than guessing. So 'no fabricated evidence' isn't a hope here — it's a measured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CASE 1 — THE DECOY. (Point at the two timeline lanes.)
"Now the honest part — where it breaks. In this scenario we planted a LOUD decoy attacker and a QUIET real one.
The AI correctly said 'yes, attack' — but it blamed the decoy, the wrong person. And here's the subtle bit: every event it cited was genuine, so the validator stayed silent.
The lesson is the slide title: checking that citations are real does NOT guarantee the conclusion is right. We feature this failure rather than hide it — that's what makes the work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CASE 2 — RULE-CONTEXT BIAS.
"A second failure. We feed the rule alerts to the AI as context — is that safe? We tested it directly.
With the alerts in the prompt, it wrongly cried 'attack' five times out of five. Remove just the alerts — same evidence — and it correctly says 'no,' five out of five.
So rule output is not neutral context; it can bias the AI. But across 44 scenarios it only flipped six, so it's a real but MINOR effect — not the main cause of the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 WE TRIED TO BREAK IT.
"We stress-tested it on purpose — deleted evidence, injected noise, scrambled timestamps.
The reassuring result: when stressed, it degrades to 'insufficient evidence' rather than making things up. It fails in the SAFE direction. That's exactly what you want from a forensic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 REAL THIRD-PARTY DATA.
"This is the result I'm proudest of. We didn't only test our own data — we ran the whole pipeline on CERT, a real insider-threat dataset from Carnegie Mellon that we had NO hand in building.
The same pattern held and even intensified: it caught all 20 real insiders, but over-flagged nearly every innocent month.
One honest caveat — read the red note: on this richer data the AI often returned prose instead of structured output, so the citation-check couldn't run at full strength here. We report that openly. But a finding that survives data you never touched is the strongest evidence you can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 STATE THEM CONFIDENTLY.
"I want to be clear about the limits, because that builds trust.
We tested ONE AI model, so the over-flagging might be specific to it. Most of our data is synthetic. And as the decoy showed, the validator can't catch a wrong conclusion built from real evidence.
The next steps follow directly: try other models like Llama and Mistral, use more real data, and teach it to weigh multiple suspects before naming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land it slowly, then invite questions.
"To wrap up: the right role for an AI in forensics isn't an autonomous detector — it's a bounded, high-recall first pass that a human reviews.
Rules and the AI are partners, not rivals. And what makes it trustworthy is mechanical validation plus the honesty to report where it fails.
Everything here is reproducible from the code.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640080" y="502920"/>
            <a:ext cx="1417320" cy="274320"/>
          </a:xfrm>
          <a:prstGeom prst="rect">
            <a:avLst/>
          </a:prstGeom>
          <a:solidFill>
            <a:srgbClr val="2A3878"/>
          </a:solidFill>
          <a:ln w="9525">
            <a:solidFill>
              <a:srgbClr val="44558F"/>
            </a:solidFill>
            <a:prstDash val="solid"/>
          </a:ln>
        </p:spPr>
      </p:sp>
      <p:sp>
        <p:nvSpPr>
          <p:cNvPr id="4" name="Text 1"/>
          <p:cNvSpPr/>
          <p:nvPr/>
        </p:nvSpPr>
        <p:spPr>
          <a:xfrm>
            <a:off x="640080" y="502920"/>
            <a:ext cx="141732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onsolas" pitchFamily="34" charset="0"/>
                <a:ea typeface="Consolas" pitchFamily="34" charset="-122"/>
                <a:cs typeface="Consolas" pitchFamily="34" charset="-120"/>
              </a:rPr>
              <a:t>evt_s4_002</a:t>
            </a:r>
            <a:endParaRPr lang="en-US" sz="1000" dirty="0"/>
          </a:p>
        </p:txBody>
      </p:sp>
      <p:sp>
        <p:nvSpPr>
          <p:cNvPr id="5" name="Shape 2"/>
          <p:cNvSpPr/>
          <p:nvPr/>
        </p:nvSpPr>
        <p:spPr>
          <a:xfrm>
            <a:off x="2267712" y="502920"/>
            <a:ext cx="1417320" cy="274320"/>
          </a:xfrm>
          <a:prstGeom prst="rect">
            <a:avLst/>
          </a:prstGeom>
          <a:solidFill>
            <a:srgbClr val="2A3878"/>
          </a:solidFill>
          <a:ln w="9525">
            <a:solidFill>
              <a:srgbClr val="44558F"/>
            </a:solidFill>
            <a:prstDash val="solid"/>
          </a:ln>
        </p:spPr>
      </p:sp>
      <p:sp>
        <p:nvSpPr>
          <p:cNvPr id="6" name="Text 3"/>
          <p:cNvSpPr/>
          <p:nvPr/>
        </p:nvSpPr>
        <p:spPr>
          <a:xfrm>
            <a:off x="2267712" y="502920"/>
            <a:ext cx="141732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onsolas" pitchFamily="34" charset="0"/>
                <a:ea typeface="Consolas" pitchFamily="34" charset="-122"/>
                <a:cs typeface="Consolas" pitchFamily="34" charset="-120"/>
              </a:rPr>
              <a:t>evt_s4_010</a:t>
            </a:r>
            <a:endParaRPr lang="en-US" sz="1000" dirty="0"/>
          </a:p>
        </p:txBody>
      </p:sp>
      <p:sp>
        <p:nvSpPr>
          <p:cNvPr id="7" name="Shape 4"/>
          <p:cNvSpPr/>
          <p:nvPr/>
        </p:nvSpPr>
        <p:spPr>
          <a:xfrm>
            <a:off x="3895344" y="502920"/>
            <a:ext cx="1417320" cy="274320"/>
          </a:xfrm>
          <a:prstGeom prst="rect">
            <a:avLst/>
          </a:prstGeom>
          <a:solidFill>
            <a:srgbClr val="2A3878"/>
          </a:solidFill>
          <a:ln w="9525">
            <a:solidFill>
              <a:srgbClr val="44558F"/>
            </a:solidFill>
            <a:prstDash val="solid"/>
          </a:ln>
        </p:spPr>
      </p:sp>
      <p:sp>
        <p:nvSpPr>
          <p:cNvPr id="8" name="Text 5"/>
          <p:cNvSpPr/>
          <p:nvPr/>
        </p:nvSpPr>
        <p:spPr>
          <a:xfrm>
            <a:off x="3895344" y="502920"/>
            <a:ext cx="141732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onsolas" pitchFamily="34" charset="0"/>
                <a:ea typeface="Consolas" pitchFamily="34" charset="-122"/>
                <a:cs typeface="Consolas" pitchFamily="34" charset="-120"/>
              </a:rPr>
              <a:t>evt_s14_007</a:t>
            </a:r>
            <a:endParaRPr lang="en-US" sz="1000" dirty="0"/>
          </a:p>
        </p:txBody>
      </p:sp>
      <p:sp>
        <p:nvSpPr>
          <p:cNvPr id="9" name="Shape 6"/>
          <p:cNvSpPr/>
          <p:nvPr/>
        </p:nvSpPr>
        <p:spPr>
          <a:xfrm>
            <a:off x="5522976" y="502920"/>
            <a:ext cx="1417320" cy="274320"/>
          </a:xfrm>
          <a:prstGeom prst="rect">
            <a:avLst/>
          </a:prstGeom>
          <a:solidFill>
            <a:srgbClr val="A03030"/>
          </a:solidFill>
          <a:ln w="9525">
            <a:solidFill>
              <a:srgbClr val="D98A8A"/>
            </a:solidFill>
            <a:prstDash val="solid"/>
          </a:ln>
        </p:spPr>
      </p:sp>
      <p:sp>
        <p:nvSpPr>
          <p:cNvPr id="10" name="Text 7"/>
          <p:cNvSpPr/>
          <p:nvPr/>
        </p:nvSpPr>
        <p:spPr>
          <a:xfrm>
            <a:off x="5522976" y="502920"/>
            <a:ext cx="1417320" cy="274320"/>
          </a:xfrm>
          <a:prstGeom prst="rect">
            <a:avLst/>
          </a:prstGeom>
          <a:noFill/>
          <a:ln/>
        </p:spPr>
        <p:txBody>
          <a:bodyPr wrap="square" lIns="0" tIns="0" rIns="0" bIns="0" rtlCol="0" anchor="ctr"/>
          <a:lstStyle/>
          <a:p>
            <a:pPr algn="ctr" indent="0" marL="0">
              <a:buNone/>
            </a:pPr>
            <a:r>
              <a:rPr lang="en-US" sz="1000" dirty="0">
                <a:solidFill>
                  <a:srgbClr val="FFD9D9"/>
                </a:solidFill>
                <a:latin typeface="Consolas" pitchFamily="34" charset="0"/>
                <a:ea typeface="Consolas" pitchFamily="34" charset="-122"/>
                <a:cs typeface="Consolas" pitchFamily="34" charset="-120"/>
              </a:rPr>
              <a:t>R005</a:t>
            </a:r>
            <a:endParaRPr lang="en-US" sz="1000" dirty="0"/>
          </a:p>
        </p:txBody>
      </p:sp>
      <p:sp>
        <p:nvSpPr>
          <p:cNvPr id="11" name="Shape 8"/>
          <p:cNvSpPr/>
          <p:nvPr/>
        </p:nvSpPr>
        <p:spPr>
          <a:xfrm>
            <a:off x="7150608" y="502920"/>
            <a:ext cx="1417320" cy="274320"/>
          </a:xfrm>
          <a:prstGeom prst="rect">
            <a:avLst/>
          </a:prstGeom>
          <a:solidFill>
            <a:srgbClr val="2A3878"/>
          </a:solidFill>
          <a:ln w="9525">
            <a:solidFill>
              <a:srgbClr val="44558F"/>
            </a:solidFill>
            <a:prstDash val="solid"/>
          </a:ln>
        </p:spPr>
      </p:sp>
      <p:sp>
        <p:nvSpPr>
          <p:cNvPr id="12" name="Text 9"/>
          <p:cNvSpPr/>
          <p:nvPr/>
        </p:nvSpPr>
        <p:spPr>
          <a:xfrm>
            <a:off x="7150608" y="502920"/>
            <a:ext cx="141732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onsolas" pitchFamily="34" charset="0"/>
                <a:ea typeface="Consolas" pitchFamily="34" charset="-122"/>
                <a:cs typeface="Consolas" pitchFamily="34" charset="-120"/>
              </a:rPr>
              <a:t>evt_s13_031</a:t>
            </a:r>
            <a:endParaRPr lang="en-US" sz="1000" dirty="0"/>
          </a:p>
        </p:txBody>
      </p:sp>
      <p:sp>
        <p:nvSpPr>
          <p:cNvPr id="13" name="Text 10"/>
          <p:cNvSpPr/>
          <p:nvPr/>
        </p:nvSpPr>
        <p:spPr>
          <a:xfrm>
            <a:off x="640080" y="841248"/>
            <a:ext cx="7863840" cy="237744"/>
          </a:xfrm>
          <a:prstGeom prst="rect">
            <a:avLst/>
          </a:prstGeom>
          <a:noFill/>
          <a:ln/>
        </p:spPr>
        <p:txBody>
          <a:bodyPr wrap="square" lIns="0" tIns="0" rIns="0" bIns="0" rtlCol="0" anchor="ctr"/>
          <a:lstStyle/>
          <a:p>
            <a:pPr indent="0" marL="0">
              <a:buNone/>
            </a:pPr>
            <a:r>
              <a:rPr lang="en-US" sz="950" i="1" dirty="0">
                <a:solidFill>
                  <a:srgbClr val="8E99B8"/>
                </a:solidFill>
                <a:latin typeface="Calibri" pitchFamily="34" charset="0"/>
                <a:ea typeface="Calibri" pitchFamily="34" charset="-122"/>
                <a:cs typeface="Calibri" pitchFamily="34" charset="-120"/>
              </a:rPr>
              <a:t>cited evidence IDs — red: invalid citation, flagged by the validator</a:t>
            </a:r>
            <a:endParaRPr lang="en-US" sz="950" dirty="0"/>
          </a:p>
        </p:txBody>
      </p:sp>
      <p:sp>
        <p:nvSpPr>
          <p:cNvPr id="14" name="Text 11"/>
          <p:cNvSpPr/>
          <p:nvPr/>
        </p:nvSpPr>
        <p:spPr>
          <a:xfrm>
            <a:off x="640080" y="1325880"/>
            <a:ext cx="7863840" cy="1554480"/>
          </a:xfrm>
          <a:prstGeom prst="rect">
            <a:avLst/>
          </a:prstGeom>
          <a:noFill/>
          <a:ln/>
        </p:spPr>
        <p:txBody>
          <a:bodyPr wrap="square" lIns="0" tIns="0" rIns="0" bIns="0"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Augmenting Rule-Based Private-Cloud Forensic Investigation with Evidence-Grounded LLM Reasoning</a:t>
            </a:r>
            <a:endParaRPr lang="en-US" sz="3100" dirty="0"/>
          </a:p>
        </p:txBody>
      </p:sp>
      <p:sp>
        <p:nvSpPr>
          <p:cNvPr id="15" name="Text 12"/>
          <p:cNvSpPr/>
          <p:nvPr/>
        </p:nvSpPr>
        <p:spPr>
          <a:xfrm>
            <a:off x="640080" y="2971800"/>
            <a:ext cx="7863840" cy="3657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Every claim must cite real evidence. The validator checks. The failures are kept.</a:t>
            </a:r>
            <a:endParaRPr lang="en-US" sz="1500" dirty="0"/>
          </a:p>
        </p:txBody>
      </p:sp>
      <p:sp>
        <p:nvSpPr>
          <p:cNvPr id="16" name="Shape 13"/>
          <p:cNvSpPr/>
          <p:nvPr/>
        </p:nvSpPr>
        <p:spPr>
          <a:xfrm>
            <a:off x="640080" y="3703320"/>
            <a:ext cx="7863840" cy="0"/>
          </a:xfrm>
          <a:prstGeom prst="line">
            <a:avLst/>
          </a:prstGeom>
          <a:noFill/>
          <a:ln w="12700">
            <a:solidFill>
              <a:srgbClr val="44558F"/>
            </a:solidFill>
            <a:prstDash val="solid"/>
          </a:ln>
        </p:spPr>
      </p:sp>
      <p:sp>
        <p:nvSpPr>
          <p:cNvPr id="17" name="Text 14"/>
          <p:cNvSpPr/>
          <p:nvPr/>
        </p:nvSpPr>
        <p:spPr>
          <a:xfrm>
            <a:off x="640080" y="3886200"/>
            <a:ext cx="78638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Md. Nazmul Hasan</a:t>
            </a:r>
            <a:endParaRPr lang="en-US" sz="1400" dirty="0"/>
          </a:p>
          <a:p>
            <a:pPr indent="0" marL="0">
              <a:buNone/>
            </a:pPr>
            <a:r>
              <a:rPr lang="en-US" sz="1100" dirty="0">
                <a:solidFill>
                  <a:srgbClr val="CADCFC"/>
                </a:solidFill>
                <a:latin typeface="Calibri" pitchFamily="34" charset="0"/>
                <a:ea typeface="Calibri" pitchFamily="34" charset="-122"/>
                <a:cs typeface="Calibri" pitchFamily="34" charset="-120"/>
              </a:rPr>
              <a:t>Dept. of Computer Science and Engineering, United International University, Dhaka, Bangladesh</a:t>
            </a:r>
            <a:endParaRPr lang="en-US" sz="1400" dirty="0"/>
          </a:p>
          <a:p>
            <a:pPr indent="0" marL="0">
              <a:buNone/>
            </a:pPr>
            <a:r>
              <a:rPr lang="en-US" sz="1200" dirty="0">
                <a:solidFill>
                  <a:srgbClr val="CADCFC"/>
                </a:solidFill>
                <a:latin typeface="Calibri" pitchFamily="34" charset="0"/>
                <a:ea typeface="Calibri" pitchFamily="34" charset="-122"/>
                <a:cs typeface="Calibri" pitchFamily="34" charset="-120"/>
              </a:rPr>
              <a:t>115 controlled scenarios  |  open-weight Gemma 27B  |  deterministic 7-check validator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PROBLEM</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After an incident, the evidence is everywhere — and nowhere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02920" y="1627632"/>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612648" y="1719072"/>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auth</a:t>
            </a:r>
            <a:endParaRPr lang="en-US" sz="1300" dirty="0"/>
          </a:p>
        </p:txBody>
      </p:sp>
      <p:sp>
        <p:nvSpPr>
          <p:cNvPr id="9" name="Text 6"/>
          <p:cNvSpPr/>
          <p:nvPr/>
        </p:nvSpPr>
        <p:spPr>
          <a:xfrm>
            <a:off x="612648" y="2011680"/>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logins, failures</a:t>
            </a:r>
            <a:endParaRPr lang="en-US" sz="1050" dirty="0"/>
          </a:p>
        </p:txBody>
      </p:sp>
      <p:sp>
        <p:nvSpPr>
          <p:cNvPr id="10" name="Shape 7"/>
          <p:cNvSpPr/>
          <p:nvPr/>
        </p:nvSpPr>
        <p:spPr>
          <a:xfrm>
            <a:off x="2587752" y="1627632"/>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1" name="Text 8"/>
          <p:cNvSpPr/>
          <p:nvPr/>
        </p:nvSpPr>
        <p:spPr>
          <a:xfrm>
            <a:off x="2697480" y="1719072"/>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file_access</a:t>
            </a:r>
            <a:endParaRPr lang="en-US" sz="1300" dirty="0"/>
          </a:p>
        </p:txBody>
      </p:sp>
      <p:sp>
        <p:nvSpPr>
          <p:cNvPr id="12" name="Text 9"/>
          <p:cNvSpPr/>
          <p:nvPr/>
        </p:nvSpPr>
        <p:spPr>
          <a:xfrm>
            <a:off x="2697480" y="2011680"/>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reads, downloads</a:t>
            </a:r>
            <a:endParaRPr lang="en-US" sz="1050" dirty="0"/>
          </a:p>
        </p:txBody>
      </p:sp>
      <p:sp>
        <p:nvSpPr>
          <p:cNvPr id="13" name="Shape 10"/>
          <p:cNvSpPr/>
          <p:nvPr/>
        </p:nvSpPr>
        <p:spPr>
          <a:xfrm>
            <a:off x="4672584" y="1627632"/>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4" name="Text 11"/>
          <p:cNvSpPr/>
          <p:nvPr/>
        </p:nvSpPr>
        <p:spPr>
          <a:xfrm>
            <a:off x="4782312" y="1719072"/>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admin</a:t>
            </a:r>
            <a:endParaRPr lang="en-US" sz="1300" dirty="0"/>
          </a:p>
        </p:txBody>
      </p:sp>
      <p:sp>
        <p:nvSpPr>
          <p:cNvPr id="15" name="Text 12"/>
          <p:cNvSpPr/>
          <p:nvPr/>
        </p:nvSpPr>
        <p:spPr>
          <a:xfrm>
            <a:off x="4782312" y="2011680"/>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privileges, log deletion</a:t>
            </a:r>
            <a:endParaRPr lang="en-US" sz="1050" dirty="0"/>
          </a:p>
        </p:txBody>
      </p:sp>
      <p:sp>
        <p:nvSpPr>
          <p:cNvPr id="16" name="Shape 13"/>
          <p:cNvSpPr/>
          <p:nvPr/>
        </p:nvSpPr>
        <p:spPr>
          <a:xfrm>
            <a:off x="6757416" y="1627632"/>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7" name="Text 14"/>
          <p:cNvSpPr/>
          <p:nvPr/>
        </p:nvSpPr>
        <p:spPr>
          <a:xfrm>
            <a:off x="6867144" y="1719072"/>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network</a:t>
            </a:r>
            <a:endParaRPr lang="en-US" sz="1300" dirty="0"/>
          </a:p>
        </p:txBody>
      </p:sp>
      <p:sp>
        <p:nvSpPr>
          <p:cNvPr id="18" name="Text 15"/>
          <p:cNvSpPr/>
          <p:nvPr/>
        </p:nvSpPr>
        <p:spPr>
          <a:xfrm>
            <a:off x="6867144" y="2011680"/>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DNS, firewall, VPN</a:t>
            </a:r>
            <a:endParaRPr lang="en-US" sz="1050" dirty="0"/>
          </a:p>
        </p:txBody>
      </p:sp>
      <p:sp>
        <p:nvSpPr>
          <p:cNvPr id="19" name="Shape 16"/>
          <p:cNvSpPr/>
          <p:nvPr/>
        </p:nvSpPr>
        <p:spPr>
          <a:xfrm>
            <a:off x="502920" y="2615184"/>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0" name="Text 17"/>
          <p:cNvSpPr/>
          <p:nvPr/>
        </p:nvSpPr>
        <p:spPr>
          <a:xfrm>
            <a:off x="612648" y="2706624"/>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database</a:t>
            </a:r>
            <a:endParaRPr lang="en-US" sz="1300" dirty="0"/>
          </a:p>
        </p:txBody>
      </p:sp>
      <p:sp>
        <p:nvSpPr>
          <p:cNvPr id="21" name="Text 18"/>
          <p:cNvSpPr/>
          <p:nvPr/>
        </p:nvSpPr>
        <p:spPr>
          <a:xfrm>
            <a:off x="612648" y="2999232"/>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queries, exports</a:t>
            </a:r>
            <a:endParaRPr lang="en-US" sz="1050" dirty="0"/>
          </a:p>
        </p:txBody>
      </p:sp>
      <p:sp>
        <p:nvSpPr>
          <p:cNvPr id="22" name="Shape 19"/>
          <p:cNvSpPr/>
          <p:nvPr/>
        </p:nvSpPr>
        <p:spPr>
          <a:xfrm>
            <a:off x="2587752" y="2615184"/>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3" name="Text 20"/>
          <p:cNvSpPr/>
          <p:nvPr/>
        </p:nvSpPr>
        <p:spPr>
          <a:xfrm>
            <a:off x="2697480" y="2706624"/>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web_server</a:t>
            </a:r>
            <a:endParaRPr lang="en-US" sz="1300" dirty="0"/>
          </a:p>
        </p:txBody>
      </p:sp>
      <p:sp>
        <p:nvSpPr>
          <p:cNvPr id="24" name="Text 21"/>
          <p:cNvSpPr/>
          <p:nvPr/>
        </p:nvSpPr>
        <p:spPr>
          <a:xfrm>
            <a:off x="2697480" y="2999232"/>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requests, errors</a:t>
            </a:r>
            <a:endParaRPr lang="en-US" sz="1050" dirty="0"/>
          </a:p>
        </p:txBody>
      </p:sp>
      <p:sp>
        <p:nvSpPr>
          <p:cNvPr id="25" name="Shape 22"/>
          <p:cNvSpPr/>
          <p:nvPr/>
        </p:nvSpPr>
        <p:spPr>
          <a:xfrm>
            <a:off x="4672584" y="2615184"/>
            <a:ext cx="1901952" cy="804672"/>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6" name="Text 23"/>
          <p:cNvSpPr/>
          <p:nvPr/>
        </p:nvSpPr>
        <p:spPr>
          <a:xfrm>
            <a:off x="4782312" y="2706624"/>
            <a:ext cx="1682496"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email</a:t>
            </a:r>
            <a:endParaRPr lang="en-US" sz="1300" dirty="0"/>
          </a:p>
        </p:txBody>
      </p:sp>
      <p:sp>
        <p:nvSpPr>
          <p:cNvPr id="27" name="Text 24"/>
          <p:cNvSpPr/>
          <p:nvPr/>
        </p:nvSpPr>
        <p:spPr>
          <a:xfrm>
            <a:off x="4782312" y="2999232"/>
            <a:ext cx="1682496" cy="31089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messages, attachments</a:t>
            </a:r>
            <a:endParaRPr lang="en-US" sz="1050" dirty="0"/>
          </a:p>
        </p:txBody>
      </p:sp>
      <p:sp>
        <p:nvSpPr>
          <p:cNvPr id="28" name="Shape 25"/>
          <p:cNvSpPr/>
          <p:nvPr/>
        </p:nvSpPr>
        <p:spPr>
          <a:xfrm>
            <a:off x="6766560" y="2615184"/>
            <a:ext cx="1874520" cy="1554480"/>
          </a:xfrm>
          <a:prstGeom prst="rect">
            <a:avLst/>
          </a:prstGeom>
          <a:solidFill>
            <a:srgbClr val="1E2761"/>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9" name="Text 26"/>
          <p:cNvSpPr/>
          <p:nvPr/>
        </p:nvSpPr>
        <p:spPr>
          <a:xfrm>
            <a:off x="6766560" y="2743200"/>
            <a:ext cx="1874520" cy="77724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0</a:t>
            </a:r>
            <a:endParaRPr lang="en-US" sz="5400" dirty="0"/>
          </a:p>
        </p:txBody>
      </p:sp>
      <p:sp>
        <p:nvSpPr>
          <p:cNvPr id="30" name="Text 27"/>
          <p:cNvSpPr/>
          <p:nvPr/>
        </p:nvSpPr>
        <p:spPr>
          <a:xfrm>
            <a:off x="6858000" y="3520440"/>
            <a:ext cx="1691640" cy="54864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unified audit planes.</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No CloudTrail in a private cloud.</a:t>
            </a:r>
            <a:endParaRPr lang="en-US" sz="1050" dirty="0"/>
          </a:p>
        </p:txBody>
      </p:sp>
      <p:sp>
        <p:nvSpPr>
          <p:cNvPr id="31" name="Text 28"/>
          <p:cNvSpPr/>
          <p:nvPr/>
        </p:nvSpPr>
        <p:spPr>
          <a:xfrm>
            <a:off x="502920" y="3776472"/>
            <a:ext cx="6035040" cy="685800"/>
          </a:xfrm>
          <a:prstGeom prst="rect">
            <a:avLst/>
          </a:prstGeom>
          <a:noFill/>
          <a:ln/>
        </p:spPr>
        <p:txBody>
          <a:bodyPr wrap="square" lIns="0" tIns="0" rIns="0" bIns="0" rtlCol="0" anchor="ctr"/>
          <a:lstStyle/>
          <a:p>
            <a:pPr indent="0" marL="0">
              <a:buNone/>
            </a:pPr>
            <a:r>
              <a:rPr lang="en-US" sz="1350" i="1" dirty="0">
                <a:solidFill>
                  <a:srgbClr val="22293B"/>
                </a:solidFill>
                <a:latin typeface="Calibri" pitchFamily="34" charset="0"/>
                <a:ea typeface="Calibri" pitchFamily="34" charset="-122"/>
                <a:cs typeface="Calibri" pitchFamily="34" charset="-120"/>
              </a:rPr>
              <a:t>Post-incident triage = reconstruct, classify, explain — from fragmented logs, defensibly. Not real-time detection.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MOTIVATION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Rules are brittle. Unconstrained LLMs are dangerous.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02920" y="1600200"/>
            <a:ext cx="3977640" cy="301752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Shape 5"/>
          <p:cNvSpPr/>
          <p:nvPr/>
        </p:nvSpPr>
        <p:spPr>
          <a:xfrm>
            <a:off x="502920" y="1600200"/>
            <a:ext cx="3977640" cy="384048"/>
          </a:xfrm>
          <a:prstGeom prst="rect">
            <a:avLst/>
          </a:prstGeom>
          <a:solidFill>
            <a:srgbClr val="A07020"/>
          </a:solidFill>
          <a:ln/>
        </p:spPr>
      </p:sp>
      <p:sp>
        <p:nvSpPr>
          <p:cNvPr id="9" name="Text 6"/>
          <p:cNvSpPr/>
          <p:nvPr/>
        </p:nvSpPr>
        <p:spPr>
          <a:xfrm>
            <a:off x="502920" y="1600200"/>
            <a:ext cx="39776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RULE-BASED CORRELATION (SIEM)</a:t>
            </a:r>
            <a:endParaRPr lang="en-US" sz="1200" dirty="0"/>
          </a:p>
        </p:txBody>
      </p:sp>
      <p:sp>
        <p:nvSpPr>
          <p:cNvPr id="10" name="Text 7"/>
          <p:cNvSpPr/>
          <p:nvPr/>
        </p:nvSpPr>
        <p:spPr>
          <a:xfrm>
            <a:off x="685800" y="2103120"/>
            <a:ext cx="3657600" cy="2377440"/>
          </a:xfrm>
          <a:prstGeom prst="rect">
            <a:avLst/>
          </a:prstGeom>
          <a:noFill/>
          <a:ln/>
        </p:spPr>
        <p:txBody>
          <a:bodyPr wrap="square" lIns="0" tIns="0" rIns="0" bIns="0" rtlCol="0" anchor="ctr"/>
          <a:lstStyle/>
          <a:p>
            <a:pPr marL="342900" indent="-342900">
              <a:spcAft>
                <a:spcPts val="800"/>
              </a:spcAft>
              <a:buSzPct val="100000"/>
              <a:buChar char="•"/>
            </a:pPr>
            <a:r>
              <a:rPr lang="en-US" sz="1250" b="1" dirty="0">
                <a:solidFill>
                  <a:srgbClr val="2E7D52"/>
                </a:solidFill>
                <a:latin typeface="Calibri" pitchFamily="34" charset="0"/>
                <a:ea typeface="Calibri" pitchFamily="34" charset="-122"/>
                <a:cs typeface="Calibri" pitchFamily="34" charset="-120"/>
              </a:rPr>
              <a:t>Transparent, deterministic, auditable</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Alert floods on travel &amp; maintenance (33 alerts on one benign scenario)</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Cannot aggregate across days — slow insider exfiltration maps to BENIGN</a:t>
            </a:r>
            <a:endParaRPr lang="en-US" sz="1250" dirty="0"/>
          </a:p>
          <a:p>
            <a:pPr marL="342900" indent="-342900">
              <a:spcAft>
                <a:spcPts val="800"/>
              </a:spcAft>
              <a:buSzPct val="100000"/>
              <a:buChar char="•"/>
            </a:pPr>
            <a:r>
              <a:rPr lang="en-US" sz="1250" b="1" dirty="0">
                <a:solidFill>
                  <a:srgbClr val="A03030"/>
                </a:solidFill>
                <a:latin typeface="Calibri" pitchFamily="34" charset="0"/>
                <a:ea typeface="Calibri" pitchFamily="34" charset="-122"/>
                <a:cs typeface="Calibri" pitchFamily="34" charset="-120"/>
              </a:rPr>
              <a:t>0% on multi-day scope-creep family</a:t>
            </a:r>
            <a:endParaRPr lang="en-US" sz="1250" dirty="0"/>
          </a:p>
        </p:txBody>
      </p:sp>
      <p:sp>
        <p:nvSpPr>
          <p:cNvPr id="11" name="Shape 8"/>
          <p:cNvSpPr/>
          <p:nvPr/>
        </p:nvSpPr>
        <p:spPr>
          <a:xfrm>
            <a:off x="4663440" y="1600200"/>
            <a:ext cx="3977640" cy="301752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2" name="Shape 9"/>
          <p:cNvSpPr/>
          <p:nvPr/>
        </p:nvSpPr>
        <p:spPr>
          <a:xfrm>
            <a:off x="4663440" y="1600200"/>
            <a:ext cx="3977640" cy="384048"/>
          </a:xfrm>
          <a:prstGeom prst="rect">
            <a:avLst/>
          </a:prstGeom>
          <a:solidFill>
            <a:srgbClr val="6A3FA0"/>
          </a:solidFill>
          <a:ln/>
        </p:spPr>
      </p:sp>
      <p:sp>
        <p:nvSpPr>
          <p:cNvPr id="13" name="Text 10"/>
          <p:cNvSpPr/>
          <p:nvPr/>
        </p:nvSpPr>
        <p:spPr>
          <a:xfrm>
            <a:off x="4663440" y="1600200"/>
            <a:ext cx="39776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UNCONSTRAINED LLM ANALYSIS</a:t>
            </a:r>
            <a:endParaRPr lang="en-US" sz="1200" dirty="0"/>
          </a:p>
        </p:txBody>
      </p:sp>
      <p:sp>
        <p:nvSpPr>
          <p:cNvPr id="14" name="Text 11"/>
          <p:cNvSpPr/>
          <p:nvPr/>
        </p:nvSpPr>
        <p:spPr>
          <a:xfrm>
            <a:off x="4846320" y="2103120"/>
            <a:ext cx="3657600" cy="2377440"/>
          </a:xfrm>
          <a:prstGeom prst="rect">
            <a:avLst/>
          </a:prstGeom>
          <a:noFill/>
          <a:ln/>
        </p:spPr>
        <p:txBody>
          <a:bodyPr wrap="square" lIns="0" tIns="0" rIns="0" bIns="0" rtlCol="0" anchor="ctr"/>
          <a:lstStyle/>
          <a:p>
            <a:pPr marL="342900" indent="-342900">
              <a:spcAft>
                <a:spcPts val="800"/>
              </a:spcAft>
              <a:buSzPct val="100000"/>
              <a:buChar char="•"/>
            </a:pPr>
            <a:r>
              <a:rPr lang="en-US" sz="1250" b="1" dirty="0">
                <a:solidFill>
                  <a:srgbClr val="2E7D52"/>
                </a:solidFill>
                <a:latin typeface="Calibri" pitchFamily="34" charset="0"/>
                <a:ea typeface="Calibri" pitchFamily="34" charset="-122"/>
                <a:cs typeface="Calibri" pitchFamily="34" charset="-120"/>
              </a:rPr>
              <a:t>Synthesizes weak signals across time and sources</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Hallucinates evidence, overclaims intent, picks wrong actors</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Non-determinism undermines forensic reproducibility</a:t>
            </a:r>
            <a:endParaRPr lang="en-US" sz="1250" dirty="0"/>
          </a:p>
          <a:p>
            <a:pPr marL="342900" indent="-342900">
              <a:spcAft>
                <a:spcPts val="800"/>
              </a:spcAft>
              <a:buSzPct val="100000"/>
              <a:buChar char="•"/>
            </a:pPr>
            <a:r>
              <a:rPr lang="en-US" sz="1250" b="1" dirty="0">
                <a:solidFill>
                  <a:srgbClr val="A03030"/>
                </a:solidFill>
                <a:latin typeface="Calibri" pitchFamily="34" charset="0"/>
                <a:ea typeface="Calibri" pitchFamily="34" charset="-122"/>
                <a:cs typeface="Calibri" pitchFamily="34" charset="-120"/>
              </a:rPr>
              <a:t>Unacceptable where every claim faces legal review</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THIS WORK</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Constrain the LLM to cited evidence — then audit the citations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02920" y="1554480"/>
            <a:ext cx="8138160" cy="960120"/>
          </a:xfrm>
          <a:prstGeom prst="rect">
            <a:avLst/>
          </a:prstGeom>
          <a:solidFill>
            <a:srgbClr val="1E2761"/>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731520" y="1627632"/>
            <a:ext cx="7680960" cy="82296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RQ: </a:t>
            </a:r>
            <a:pPr indent="0" marL="0">
              <a:buNone/>
            </a:pPr>
            <a:r>
              <a:rPr lang="en-US" sz="1350" dirty="0">
                <a:solidFill>
                  <a:srgbClr val="FFFFFF"/>
                </a:solidFill>
                <a:latin typeface="Calibri" pitchFamily="34" charset="0"/>
                <a:ea typeface="Calibri" pitchFamily="34" charset="-122"/>
                <a:cs typeface="Calibri" pitchFamily="34" charset="-120"/>
              </a:rPr>
              <a:t>Can an LLM that may only reason over normalized events, and must cite an event identifier for every claim, improve forensic triage over a transparent rule baseline — while staying traceable?</a:t>
            </a:r>
            <a:endParaRPr lang="en-US" sz="1350" dirty="0"/>
          </a:p>
        </p:txBody>
      </p:sp>
      <p:sp>
        <p:nvSpPr>
          <p:cNvPr id="9" name="Shape 6"/>
          <p:cNvSpPr/>
          <p:nvPr/>
        </p:nvSpPr>
        <p:spPr>
          <a:xfrm>
            <a:off x="502920" y="2743200"/>
            <a:ext cx="1901952" cy="16916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0" name="Shape 7"/>
          <p:cNvSpPr/>
          <p:nvPr/>
        </p:nvSpPr>
        <p:spPr>
          <a:xfrm>
            <a:off x="612648" y="2871216"/>
            <a:ext cx="384048" cy="384048"/>
          </a:xfrm>
          <a:prstGeom prst="ellipse">
            <a:avLst/>
          </a:prstGeom>
          <a:solidFill>
            <a:srgbClr val="1E2761"/>
          </a:solidFill>
          <a:ln/>
        </p:spPr>
      </p:sp>
      <p:sp>
        <p:nvSpPr>
          <p:cNvPr id="11" name="Text 8"/>
          <p:cNvSpPr/>
          <p:nvPr/>
        </p:nvSpPr>
        <p:spPr>
          <a:xfrm>
            <a:off x="612648" y="2871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9"/>
          <p:cNvSpPr/>
          <p:nvPr/>
        </p:nvSpPr>
        <p:spPr>
          <a:xfrm>
            <a:off x="1088136" y="2907792"/>
            <a:ext cx="1280160" cy="329184"/>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Normalize</a:t>
            </a:r>
            <a:endParaRPr lang="en-US" sz="1350" dirty="0"/>
          </a:p>
        </p:txBody>
      </p:sp>
      <p:sp>
        <p:nvSpPr>
          <p:cNvPr id="13" name="Text 10"/>
          <p:cNvSpPr/>
          <p:nvPr/>
        </p:nvSpPr>
        <p:spPr>
          <a:xfrm>
            <a:off x="630936" y="3364992"/>
            <a:ext cx="1664208"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7 log sources → one event schema (OCSF/ECS-mapped)</a:t>
            </a:r>
            <a:endParaRPr lang="en-US" sz="1050" dirty="0"/>
          </a:p>
        </p:txBody>
      </p:sp>
      <p:sp>
        <p:nvSpPr>
          <p:cNvPr id="14" name="Shape 11"/>
          <p:cNvSpPr/>
          <p:nvPr/>
        </p:nvSpPr>
        <p:spPr>
          <a:xfrm>
            <a:off x="2587752" y="2743200"/>
            <a:ext cx="1901952" cy="16916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5" name="Shape 12"/>
          <p:cNvSpPr/>
          <p:nvPr/>
        </p:nvSpPr>
        <p:spPr>
          <a:xfrm>
            <a:off x="2697480" y="2871216"/>
            <a:ext cx="384048" cy="384048"/>
          </a:xfrm>
          <a:prstGeom prst="ellipse">
            <a:avLst/>
          </a:prstGeom>
          <a:solidFill>
            <a:srgbClr val="1E2761"/>
          </a:solidFill>
          <a:ln/>
        </p:spPr>
      </p:sp>
      <p:sp>
        <p:nvSpPr>
          <p:cNvPr id="16" name="Text 13"/>
          <p:cNvSpPr/>
          <p:nvPr/>
        </p:nvSpPr>
        <p:spPr>
          <a:xfrm>
            <a:off x="2697480" y="2871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4"/>
          <p:cNvSpPr/>
          <p:nvPr/>
        </p:nvSpPr>
        <p:spPr>
          <a:xfrm>
            <a:off x="3172968" y="2907792"/>
            <a:ext cx="1280160" cy="329184"/>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Correlate</a:t>
            </a:r>
            <a:endParaRPr lang="en-US" sz="1350" dirty="0"/>
          </a:p>
        </p:txBody>
      </p:sp>
      <p:sp>
        <p:nvSpPr>
          <p:cNvPr id="18" name="Text 15"/>
          <p:cNvSpPr/>
          <p:nvPr/>
        </p:nvSpPr>
        <p:spPr>
          <a:xfrm>
            <a:off x="2715768" y="3364992"/>
            <a:ext cx="1664208"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chronological, session-grouped, cross-source timeline</a:t>
            </a:r>
            <a:endParaRPr lang="en-US" sz="1050" dirty="0"/>
          </a:p>
        </p:txBody>
      </p:sp>
      <p:sp>
        <p:nvSpPr>
          <p:cNvPr id="19" name="Shape 16"/>
          <p:cNvSpPr/>
          <p:nvPr/>
        </p:nvSpPr>
        <p:spPr>
          <a:xfrm>
            <a:off x="4672584" y="2743200"/>
            <a:ext cx="1901952" cy="16916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0" name="Shape 17"/>
          <p:cNvSpPr/>
          <p:nvPr/>
        </p:nvSpPr>
        <p:spPr>
          <a:xfrm>
            <a:off x="4782312" y="2871216"/>
            <a:ext cx="384048" cy="384048"/>
          </a:xfrm>
          <a:prstGeom prst="ellipse">
            <a:avLst/>
          </a:prstGeom>
          <a:solidFill>
            <a:srgbClr val="1E2761"/>
          </a:solidFill>
          <a:ln/>
        </p:spPr>
      </p:sp>
      <p:sp>
        <p:nvSpPr>
          <p:cNvPr id="21" name="Text 18"/>
          <p:cNvSpPr/>
          <p:nvPr/>
        </p:nvSpPr>
        <p:spPr>
          <a:xfrm>
            <a:off x="4782312" y="2871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2" name="Text 19"/>
          <p:cNvSpPr/>
          <p:nvPr/>
        </p:nvSpPr>
        <p:spPr>
          <a:xfrm>
            <a:off x="5257800" y="2907792"/>
            <a:ext cx="1280160" cy="329184"/>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Analyze ×2</a:t>
            </a:r>
            <a:endParaRPr lang="en-US" sz="1350" dirty="0"/>
          </a:p>
        </p:txBody>
      </p:sp>
      <p:sp>
        <p:nvSpPr>
          <p:cNvPr id="23" name="Text 20"/>
          <p:cNvSpPr/>
          <p:nvPr/>
        </p:nvSpPr>
        <p:spPr>
          <a:xfrm>
            <a:off x="4800600" y="3364992"/>
            <a:ext cx="1664208"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12-rule engine and grounded LLM see the SAME evidence</a:t>
            </a:r>
            <a:endParaRPr lang="en-US" sz="1050" dirty="0"/>
          </a:p>
        </p:txBody>
      </p:sp>
      <p:sp>
        <p:nvSpPr>
          <p:cNvPr id="24" name="Shape 21"/>
          <p:cNvSpPr/>
          <p:nvPr/>
        </p:nvSpPr>
        <p:spPr>
          <a:xfrm>
            <a:off x="6757416" y="2743200"/>
            <a:ext cx="1901952" cy="16916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5" name="Shape 22"/>
          <p:cNvSpPr/>
          <p:nvPr/>
        </p:nvSpPr>
        <p:spPr>
          <a:xfrm>
            <a:off x="6867144" y="2871216"/>
            <a:ext cx="384048" cy="384048"/>
          </a:xfrm>
          <a:prstGeom prst="ellipse">
            <a:avLst/>
          </a:prstGeom>
          <a:solidFill>
            <a:srgbClr val="1E2761"/>
          </a:solidFill>
          <a:ln/>
        </p:spPr>
      </p:sp>
      <p:sp>
        <p:nvSpPr>
          <p:cNvPr id="26" name="Text 23"/>
          <p:cNvSpPr/>
          <p:nvPr/>
        </p:nvSpPr>
        <p:spPr>
          <a:xfrm>
            <a:off x="6867144" y="287121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4"/>
          <p:cNvSpPr/>
          <p:nvPr/>
        </p:nvSpPr>
        <p:spPr>
          <a:xfrm>
            <a:off x="7342632" y="2907792"/>
            <a:ext cx="1280160" cy="329184"/>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Validate</a:t>
            </a:r>
            <a:endParaRPr lang="en-US" sz="1350" dirty="0"/>
          </a:p>
        </p:txBody>
      </p:sp>
      <p:sp>
        <p:nvSpPr>
          <p:cNvPr id="28" name="Text 25"/>
          <p:cNvSpPr/>
          <p:nvPr/>
        </p:nvSpPr>
        <p:spPr>
          <a:xfrm>
            <a:off x="6885432" y="3364992"/>
            <a:ext cx="1664208"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7 deterministic checks on every LLM citation</a:t>
            </a:r>
            <a:endParaRPr lang="en-US" sz="1050" dirty="0"/>
          </a:p>
        </p:txBody>
      </p:sp>
      <p:sp>
        <p:nvSpPr>
          <p:cNvPr id="29" name="Text 26"/>
          <p:cNvSpPr/>
          <p:nvPr/>
        </p:nvSpPr>
        <p:spPr>
          <a:xfrm>
            <a:off x="502920" y="4572000"/>
            <a:ext cx="813816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Privacy by architecture: open-weight model, swappable to in-boundary vLLM / Ollama serving.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SYSTEM</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One pipeline, two analyzers, equal evidence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5</a:t>
            </a:r>
            <a:endParaRPr lang="en-US" sz="1000" dirty="0"/>
          </a:p>
        </p:txBody>
      </p:sp>
      <p:pic>
        <p:nvPicPr>
          <p:cNvPr id="7" name="Image 0" descr="/tmp/slide_pipeline.png">    </p:cNvPr>
          <p:cNvPicPr>
            <a:picLocks noChangeAspect="1"/>
          </p:cNvPicPr>
          <p:nvPr/>
        </p:nvPicPr>
        <p:blipFill>
          <a:blip r:embed="rId1"/>
          <a:stretch>
            <a:fillRect/>
          </a:stretch>
        </p:blipFill>
        <p:spPr>
          <a:xfrm>
            <a:off x="502920" y="1691640"/>
            <a:ext cx="8138160" cy="828381"/>
          </a:xfrm>
          <a:prstGeom prst="rect">
            <a:avLst/>
          </a:prstGeom>
        </p:spPr>
      </p:pic>
      <p:sp>
        <p:nvSpPr>
          <p:cNvPr id="8" name="Shape 4"/>
          <p:cNvSpPr/>
          <p:nvPr/>
        </p:nvSpPr>
        <p:spPr>
          <a:xfrm>
            <a:off x="502920" y="2926080"/>
            <a:ext cx="2606040" cy="155448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9" name="Text 5"/>
          <p:cNvSpPr/>
          <p:nvPr/>
        </p:nvSpPr>
        <p:spPr>
          <a:xfrm>
            <a:off x="667512" y="3054096"/>
            <a:ext cx="228600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Equal evidence access</a:t>
            </a:r>
            <a:endParaRPr lang="en-US" sz="1300" dirty="0"/>
          </a:p>
        </p:txBody>
      </p:sp>
      <p:sp>
        <p:nvSpPr>
          <p:cNvPr id="10" name="Text 6"/>
          <p:cNvSpPr/>
          <p:nvPr/>
        </p:nvSpPr>
        <p:spPr>
          <a:xfrm>
            <a:off x="667512" y="3383280"/>
            <a:ext cx="2286000"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Both analyzers consume the identical correlated timeline — any accuracy gap is reasoning, not privileged input.</a:t>
            </a:r>
            <a:endParaRPr lang="en-US" sz="1050" dirty="0"/>
          </a:p>
        </p:txBody>
      </p:sp>
      <p:sp>
        <p:nvSpPr>
          <p:cNvPr id="11" name="Shape 7"/>
          <p:cNvSpPr/>
          <p:nvPr/>
        </p:nvSpPr>
        <p:spPr>
          <a:xfrm>
            <a:off x="3291840" y="2926080"/>
            <a:ext cx="2606040" cy="155448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2" name="Text 8"/>
          <p:cNvSpPr/>
          <p:nvPr/>
        </p:nvSpPr>
        <p:spPr>
          <a:xfrm>
            <a:off x="3456432" y="3054096"/>
            <a:ext cx="228600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Rule-alert context</a:t>
            </a:r>
            <a:endParaRPr lang="en-US" sz="1300" dirty="0"/>
          </a:p>
        </p:txBody>
      </p:sp>
      <p:sp>
        <p:nvSpPr>
          <p:cNvPr id="13" name="Text 9"/>
          <p:cNvSpPr/>
          <p:nvPr/>
        </p:nvSpPr>
        <p:spPr>
          <a:xfrm>
            <a:off x="3456432" y="3383280"/>
            <a:ext cx="2286000"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Rule output is ALSO fed to the LLM — and that design choice is itself measured (ablation, slide 11).</a:t>
            </a:r>
            <a:endParaRPr lang="en-US" sz="1050" dirty="0"/>
          </a:p>
        </p:txBody>
      </p:sp>
      <p:sp>
        <p:nvSpPr>
          <p:cNvPr id="14" name="Shape 10"/>
          <p:cNvSpPr/>
          <p:nvPr/>
        </p:nvSpPr>
        <p:spPr>
          <a:xfrm>
            <a:off x="6080760" y="2926080"/>
            <a:ext cx="2606040" cy="155448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5" name="Text 11"/>
          <p:cNvSpPr/>
          <p:nvPr/>
        </p:nvSpPr>
        <p:spPr>
          <a:xfrm>
            <a:off x="6245352" y="3054096"/>
            <a:ext cx="228600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Implementation</a:t>
            </a:r>
            <a:endParaRPr lang="en-US" sz="1300" dirty="0"/>
          </a:p>
        </p:txBody>
      </p:sp>
      <p:sp>
        <p:nvSpPr>
          <p:cNvPr id="16" name="Text 12"/>
          <p:cNvSpPr/>
          <p:nvPr/>
        </p:nvSpPr>
        <p:spPr>
          <a:xfrm>
            <a:off x="6245352" y="3383280"/>
            <a:ext cx="2286000" cy="9601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Python 3.11 · FastAPI · PostgreSQL 15 · Docker · 59 tests green · Laravel audit layer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METHOD</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Grounded output: every claim carries an event ID</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02920" y="1554480"/>
            <a:ext cx="4572000" cy="3063240"/>
          </a:xfrm>
          <a:prstGeom prst="rect">
            <a:avLst/>
          </a:prstGeom>
          <a:solidFill>
            <a:srgbClr val="20263A"/>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731520" y="1719072"/>
            <a:ext cx="4206240" cy="2194560"/>
          </a:xfrm>
          <a:prstGeom prst="rect">
            <a:avLst/>
          </a:prstGeom>
          <a:noFill/>
          <a:ln/>
        </p:spPr>
        <p:txBody>
          <a:bodyPr wrap="square" lIns="0" tIns="0" rIns="0" bIns="0" rtlCol="0" anchor="ctr"/>
          <a:lstStyle/>
          <a:p>
            <a:pPr indent="0" marL="0">
              <a:buNone/>
            </a:pPr>
            <a:r>
              <a:rPr lang="en-US" sz="1100" dirty="0">
                <a:solidFill>
                  <a:srgbClr val="9EC9A8"/>
                </a:solidFill>
                <a:latin typeface="Consolas" pitchFamily="34" charset="0"/>
                <a:ea typeface="Consolas" pitchFamily="34" charset="-122"/>
                <a:cs typeface="Consolas" pitchFamily="34" charset="-120"/>
              </a:rPr>
              <a:t>"verdict": "YES",  "suspect": "user_03",</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"attack_chain":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{"step": 1, "event_id": "evt_s4_002",</a:t>
            </a:r>
            <a:endParaRPr lang="en-US" sz="1100" dirty="0"/>
          </a:p>
          <a:p>
            <a:pPr indent="0" marL="0">
              <a:buNone/>
            </a:pPr>
            <a:r>
              <a:rPr lang="en-US" sz="1100" dirty="0">
                <a:solidFill>
                  <a:srgbClr val="8E99B8"/>
                </a:solidFill>
                <a:latin typeface="Consolas" pitchFamily="34" charset="0"/>
                <a:ea typeface="Consolas" pitchFamily="34" charset="-122"/>
                <a:cs typeface="Consolas" pitchFamily="34" charset="-120"/>
              </a:rPr>
              <a:t>   "description": "read access to</a:t>
            </a:r>
            <a:endParaRPr lang="en-US" sz="1100" dirty="0"/>
          </a:p>
          <a:p>
            <a:pPr indent="0" marL="0">
              <a:buNone/>
            </a:pPr>
            <a:r>
              <a:rPr lang="en-US" sz="1100" dirty="0">
                <a:solidFill>
                  <a:srgbClr val="8E99B8"/>
                </a:solidFill>
                <a:latin typeface="Consolas" pitchFamily="34" charset="0"/>
                <a:ea typeface="Consolas" pitchFamily="34" charset="-122"/>
                <a:cs typeface="Consolas" pitchFamily="34" charset="-120"/>
              </a:rPr>
              <a:t>   finance reports, ticket HR-2026-441",</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"confidence": "HIGH"}, ... ],</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"evidence_for": ["evt_s4_002",</a:t>
            </a:r>
            <a:endParaRPr lang="en-US" sz="1100" dirty="0"/>
          </a:p>
          <a:p>
            <a:pPr indent="0" marL="0">
              <a:buNone/>
            </a:pPr>
            <a:r>
              <a:rPr lang="en-US" sz="1100" dirty="0">
                <a:solidFill>
                  <a:srgbClr val="CADCFC"/>
                </a:solidFill>
                <a:latin typeface="Consolas" pitchFamily="34" charset="0"/>
                <a:ea typeface="Consolas" pitchFamily="34" charset="-122"/>
                <a:cs typeface="Consolas" pitchFamily="34" charset="-120"/>
              </a:rPr>
              <a:t>  "evt_s4_010", "evt_s4_012", ...]</a:t>
            </a:r>
            <a:endParaRPr lang="en-US" sz="1100" dirty="0"/>
          </a:p>
        </p:txBody>
      </p:sp>
      <p:sp>
        <p:nvSpPr>
          <p:cNvPr id="9" name="Text 6"/>
          <p:cNvSpPr/>
          <p:nvPr/>
        </p:nvSpPr>
        <p:spPr>
          <a:xfrm>
            <a:off x="731520" y="4206240"/>
            <a:ext cx="4206240" cy="274320"/>
          </a:xfrm>
          <a:prstGeom prst="rect">
            <a:avLst/>
          </a:prstGeom>
          <a:noFill/>
          <a:ln/>
        </p:spPr>
        <p:txBody>
          <a:bodyPr wrap="square" lIns="0" tIns="0" rIns="0" bIns="0" rtlCol="0" anchor="ctr"/>
          <a:lstStyle/>
          <a:p>
            <a:pPr indent="0" marL="0">
              <a:buNone/>
            </a:pPr>
            <a:r>
              <a:rPr lang="en-US" sz="1000" i="1" dirty="0">
                <a:solidFill>
                  <a:srgbClr val="8E99B8"/>
                </a:solidFill>
                <a:latin typeface="Calibri" pitchFamily="34" charset="0"/>
                <a:ea typeface="Calibri" pitchFamily="34" charset="-122"/>
                <a:cs typeface="Calibri" pitchFamily="34" charset="-120"/>
              </a:rPr>
              <a:t>actual Gemma response, scenario S4 (3-day insider)</a:t>
            </a:r>
            <a:endParaRPr lang="en-US" sz="1000" dirty="0"/>
          </a:p>
        </p:txBody>
      </p:sp>
      <p:sp>
        <p:nvSpPr>
          <p:cNvPr id="10" name="Text 7"/>
          <p:cNvSpPr/>
          <p:nvPr/>
        </p:nvSpPr>
        <p:spPr>
          <a:xfrm>
            <a:off x="5349240" y="1572768"/>
            <a:ext cx="32918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Deterministic validator — 7 checks</a:t>
            </a:r>
            <a:endParaRPr lang="en-US" sz="1400" dirty="0"/>
          </a:p>
        </p:txBody>
      </p:sp>
      <p:sp>
        <p:nvSpPr>
          <p:cNvPr id="11" name="Shape 8"/>
          <p:cNvSpPr/>
          <p:nvPr/>
        </p:nvSpPr>
        <p:spPr>
          <a:xfrm>
            <a:off x="5394960" y="1997964"/>
            <a:ext cx="146304" cy="146304"/>
          </a:xfrm>
          <a:prstGeom prst="ellipse">
            <a:avLst/>
          </a:prstGeom>
          <a:solidFill>
            <a:srgbClr val="2E7D52"/>
          </a:solidFill>
          <a:ln/>
        </p:spPr>
      </p:sp>
      <p:sp>
        <p:nvSpPr>
          <p:cNvPr id="12" name="Text 9"/>
          <p:cNvSpPr/>
          <p:nvPr/>
        </p:nvSpPr>
        <p:spPr>
          <a:xfrm>
            <a:off x="5632704" y="1956816"/>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event-ID existence</a:t>
            </a:r>
            <a:endParaRPr lang="en-US" sz="1150" dirty="0"/>
          </a:p>
        </p:txBody>
      </p:sp>
      <p:sp>
        <p:nvSpPr>
          <p:cNvPr id="13" name="Shape 10"/>
          <p:cNvSpPr/>
          <p:nvPr/>
        </p:nvSpPr>
        <p:spPr>
          <a:xfrm>
            <a:off x="5394960" y="2313432"/>
            <a:ext cx="146304" cy="146304"/>
          </a:xfrm>
          <a:prstGeom prst="ellipse">
            <a:avLst/>
          </a:prstGeom>
          <a:solidFill>
            <a:srgbClr val="2E7D52"/>
          </a:solidFill>
          <a:ln/>
        </p:spPr>
      </p:sp>
      <p:sp>
        <p:nvSpPr>
          <p:cNvPr id="14" name="Text 11"/>
          <p:cNvSpPr/>
          <p:nvPr/>
        </p:nvSpPr>
        <p:spPr>
          <a:xfrm>
            <a:off x="5632704" y="2272284"/>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chronology of cited chain</a:t>
            </a:r>
            <a:endParaRPr lang="en-US" sz="1150" dirty="0"/>
          </a:p>
        </p:txBody>
      </p:sp>
      <p:sp>
        <p:nvSpPr>
          <p:cNvPr id="15" name="Shape 12"/>
          <p:cNvSpPr/>
          <p:nvPr/>
        </p:nvSpPr>
        <p:spPr>
          <a:xfrm>
            <a:off x="5394960" y="2628900"/>
            <a:ext cx="146304" cy="146304"/>
          </a:xfrm>
          <a:prstGeom prst="ellipse">
            <a:avLst/>
          </a:prstGeom>
          <a:solidFill>
            <a:srgbClr val="2E7D52"/>
          </a:solidFill>
          <a:ln/>
        </p:spPr>
      </p:sp>
      <p:sp>
        <p:nvSpPr>
          <p:cNvPr id="16" name="Text 13"/>
          <p:cNvSpPr/>
          <p:nvPr/>
        </p:nvSpPr>
        <p:spPr>
          <a:xfrm>
            <a:off x="5632704" y="2587752"/>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actor consistency</a:t>
            </a:r>
            <a:endParaRPr lang="en-US" sz="1150" dirty="0"/>
          </a:p>
        </p:txBody>
      </p:sp>
      <p:sp>
        <p:nvSpPr>
          <p:cNvPr id="17" name="Shape 14"/>
          <p:cNvSpPr/>
          <p:nvPr/>
        </p:nvSpPr>
        <p:spPr>
          <a:xfrm>
            <a:off x="5394960" y="2944368"/>
            <a:ext cx="146304" cy="146304"/>
          </a:xfrm>
          <a:prstGeom prst="ellipse">
            <a:avLst/>
          </a:prstGeom>
          <a:solidFill>
            <a:srgbClr val="2E7D52"/>
          </a:solidFill>
          <a:ln/>
        </p:spPr>
      </p:sp>
      <p:sp>
        <p:nvSpPr>
          <p:cNvPr id="18" name="Text 15"/>
          <p:cNvSpPr/>
          <p:nvPr/>
        </p:nvSpPr>
        <p:spPr>
          <a:xfrm>
            <a:off x="5632704" y="2903220"/>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entity consistency (IP/file)</a:t>
            </a:r>
            <a:endParaRPr lang="en-US" sz="1150" dirty="0"/>
          </a:p>
        </p:txBody>
      </p:sp>
      <p:sp>
        <p:nvSpPr>
          <p:cNvPr id="19" name="Shape 16"/>
          <p:cNvSpPr/>
          <p:nvPr/>
        </p:nvSpPr>
        <p:spPr>
          <a:xfrm>
            <a:off x="5394960" y="3259836"/>
            <a:ext cx="146304" cy="146304"/>
          </a:xfrm>
          <a:prstGeom prst="ellipse">
            <a:avLst/>
          </a:prstGeom>
          <a:solidFill>
            <a:srgbClr val="2E7D52"/>
          </a:solidFill>
          <a:ln/>
        </p:spPr>
      </p:sp>
      <p:sp>
        <p:nvSpPr>
          <p:cNvPr id="20" name="Text 17"/>
          <p:cNvSpPr/>
          <p:nvPr/>
        </p:nvSpPr>
        <p:spPr>
          <a:xfrm>
            <a:off x="5632704" y="3218688"/>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temporal claims</a:t>
            </a:r>
            <a:endParaRPr lang="en-US" sz="1150" dirty="0"/>
          </a:p>
        </p:txBody>
      </p:sp>
      <p:sp>
        <p:nvSpPr>
          <p:cNvPr id="21" name="Shape 18"/>
          <p:cNvSpPr/>
          <p:nvPr/>
        </p:nvSpPr>
        <p:spPr>
          <a:xfrm>
            <a:off x="5394960" y="3575304"/>
            <a:ext cx="146304" cy="146304"/>
          </a:xfrm>
          <a:prstGeom prst="ellipse">
            <a:avLst/>
          </a:prstGeom>
          <a:solidFill>
            <a:srgbClr val="2E7D52"/>
          </a:solidFill>
          <a:ln/>
        </p:spPr>
      </p:sp>
      <p:sp>
        <p:nvSpPr>
          <p:cNvPr id="22" name="Text 19"/>
          <p:cNvSpPr/>
          <p:nvPr/>
        </p:nvSpPr>
        <p:spPr>
          <a:xfrm>
            <a:off x="5632704" y="3534156"/>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volume claims</a:t>
            </a:r>
            <a:endParaRPr lang="en-US" sz="1150" dirty="0"/>
          </a:p>
        </p:txBody>
      </p:sp>
      <p:sp>
        <p:nvSpPr>
          <p:cNvPr id="23" name="Shape 20"/>
          <p:cNvSpPr/>
          <p:nvPr/>
        </p:nvSpPr>
        <p:spPr>
          <a:xfrm>
            <a:off x="5394960" y="3890772"/>
            <a:ext cx="146304" cy="146304"/>
          </a:xfrm>
          <a:prstGeom prst="ellipse">
            <a:avLst/>
          </a:prstGeom>
          <a:solidFill>
            <a:srgbClr val="2E7D52"/>
          </a:solidFill>
          <a:ln/>
        </p:spPr>
      </p:sp>
      <p:sp>
        <p:nvSpPr>
          <p:cNvPr id="24" name="Text 21"/>
          <p:cNvSpPr/>
          <p:nvPr/>
        </p:nvSpPr>
        <p:spPr>
          <a:xfrm>
            <a:off x="5632704" y="3849624"/>
            <a:ext cx="3017520" cy="237744"/>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uncited-claim structure</a:t>
            </a:r>
            <a:endParaRPr lang="en-US" sz="1150" dirty="0"/>
          </a:p>
        </p:txBody>
      </p:sp>
      <p:sp>
        <p:nvSpPr>
          <p:cNvPr id="25" name="Shape 22"/>
          <p:cNvSpPr/>
          <p:nvPr/>
        </p:nvSpPr>
        <p:spPr>
          <a:xfrm>
            <a:off x="5349240" y="4224528"/>
            <a:ext cx="3291840" cy="457200"/>
          </a:xfrm>
          <a:prstGeom prst="rect">
            <a:avLst/>
          </a:prstGeom>
          <a:solidFill>
            <a:srgbClr val="FDEAEA"/>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6" name="Text 23"/>
          <p:cNvSpPr/>
          <p:nvPr/>
        </p:nvSpPr>
        <p:spPr>
          <a:xfrm>
            <a:off x="5458968" y="4224528"/>
            <a:ext cx="3108960" cy="457200"/>
          </a:xfrm>
          <a:prstGeom prst="rect">
            <a:avLst/>
          </a:prstGeom>
          <a:noFill/>
          <a:ln/>
        </p:spPr>
        <p:txBody>
          <a:bodyPr wrap="square" lIns="0" tIns="0" rIns="0" bIns="0" rtlCol="0" anchor="ctr"/>
          <a:lstStyle/>
          <a:p>
            <a:pPr indent="0" marL="0">
              <a:buNone/>
            </a:pPr>
            <a:r>
              <a:rPr lang="en-US" sz="1050" b="1" dirty="0">
                <a:solidFill>
                  <a:srgbClr val="A03030"/>
                </a:solidFill>
                <a:latin typeface="Calibri" pitchFamily="34" charset="0"/>
                <a:ea typeface="Calibri" pitchFamily="34" charset="-122"/>
                <a:cs typeface="Calibri" pitchFamily="34" charset="-120"/>
              </a:rPr>
              <a:t>Checks that citations are REAL — not that the interpretation is RIGHT.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EVALUATION DESIGN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From 15 hand-written cases to a 115-scenario holdout design</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02920" y="1600200"/>
            <a:ext cx="2606040" cy="19202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502920" y="1764792"/>
            <a:ext cx="2606040" cy="685800"/>
          </a:xfrm>
          <a:prstGeom prst="rect">
            <a:avLst/>
          </a:prstGeom>
          <a:noFill/>
          <a:ln/>
        </p:spPr>
        <p:txBody>
          <a:bodyPr wrap="square" lIns="0" tIns="0" rIns="0" bIns="0" rtlCol="0" anchor="ctr"/>
          <a:lstStyle/>
          <a:p>
            <a:pPr algn="ctr" indent="0" marL="0">
              <a:buNone/>
            </a:pPr>
            <a:r>
              <a:rPr lang="en-US" sz="3800" b="1" dirty="0">
                <a:solidFill>
                  <a:srgbClr val="A07020"/>
                </a:solidFill>
                <a:latin typeface="Georgia" pitchFamily="34" charset="0"/>
                <a:ea typeface="Georgia" pitchFamily="34" charset="-122"/>
                <a:cs typeface="Georgia" pitchFamily="34" charset="-120"/>
              </a:rPr>
              <a:t>15</a:t>
            </a:r>
            <a:endParaRPr lang="en-US" sz="3800" dirty="0"/>
          </a:p>
        </p:txBody>
      </p:sp>
      <p:sp>
        <p:nvSpPr>
          <p:cNvPr id="9" name="Text 6"/>
          <p:cNvSpPr/>
          <p:nvPr/>
        </p:nvSpPr>
        <p:spPr>
          <a:xfrm>
            <a:off x="502920" y="2450592"/>
            <a:ext cx="2606040" cy="274320"/>
          </a:xfrm>
          <a:prstGeom prst="rect">
            <a:avLst/>
          </a:prstGeom>
          <a:noFill/>
          <a:ln/>
        </p:spPr>
        <p:txBody>
          <a:bodyPr wrap="square" lIns="0" tIns="0" rIns="0" bIns="0" rtlCol="0" anchor="ctr"/>
          <a:lstStyle/>
          <a:p>
            <a:pPr algn="ctr" indent="0" marL="0">
              <a:buNone/>
            </a:pPr>
            <a:r>
              <a:rPr lang="en-US" sz="1250" b="1" dirty="0">
                <a:solidFill>
                  <a:srgbClr val="22293B"/>
                </a:solidFill>
                <a:latin typeface="Calibri" pitchFamily="34" charset="0"/>
                <a:ea typeface="Calibri" pitchFamily="34" charset="-122"/>
                <a:cs typeface="Calibri" pitchFamily="34" charset="-120"/>
              </a:rPr>
              <a:t>calibration scenarios</a:t>
            </a:r>
            <a:endParaRPr lang="en-US" sz="1250" dirty="0"/>
          </a:p>
        </p:txBody>
      </p:sp>
      <p:sp>
        <p:nvSpPr>
          <p:cNvPr id="10" name="Text 7"/>
          <p:cNvSpPr/>
          <p:nvPr/>
        </p:nvSpPr>
        <p:spPr>
          <a:xfrm>
            <a:off x="685800" y="2743200"/>
            <a:ext cx="2240280" cy="685800"/>
          </a:xfrm>
          <a:prstGeom prst="rect">
            <a:avLst/>
          </a:prstGeom>
          <a:noFill/>
          <a:ln/>
        </p:spPr>
        <p:txBody>
          <a:bodyPr wrap="square" lIns="0" tIns="0" rIns="0" bIns="0" rtlCol="0" anchor="ctr"/>
          <a:lstStyle/>
          <a:p>
            <a:pPr algn="ctr" indent="0" marL="0">
              <a:buNone/>
            </a:pPr>
            <a:r>
              <a:rPr lang="en-US" sz="1000" dirty="0">
                <a:solidFill>
                  <a:srgbClr val="5A6478"/>
                </a:solidFill>
                <a:latin typeface="Calibri" pitchFamily="34" charset="0"/>
                <a:ea typeface="Calibri" pitchFamily="34" charset="-122"/>
                <a:cs typeface="Calibri" pitchFamily="34" charset="-120"/>
              </a:rPr>
              <a:t>hand-designed; the LLM prompt was tuned here — and only here</a:t>
            </a:r>
            <a:endParaRPr lang="en-US" sz="1000" dirty="0"/>
          </a:p>
        </p:txBody>
      </p:sp>
      <p:sp>
        <p:nvSpPr>
          <p:cNvPr id="11" name="Shape 8"/>
          <p:cNvSpPr/>
          <p:nvPr/>
        </p:nvSpPr>
        <p:spPr>
          <a:xfrm>
            <a:off x="3291840" y="1600200"/>
            <a:ext cx="2606040" cy="19202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2" name="Text 9"/>
          <p:cNvSpPr/>
          <p:nvPr/>
        </p:nvSpPr>
        <p:spPr>
          <a:xfrm>
            <a:off x="3291840" y="1764792"/>
            <a:ext cx="2606040" cy="685800"/>
          </a:xfrm>
          <a:prstGeom prst="rect">
            <a:avLst/>
          </a:prstGeom>
          <a:noFill/>
          <a:ln/>
        </p:spPr>
        <p:txBody>
          <a:bodyPr wrap="square" lIns="0" tIns="0" rIns="0" bIns="0" rtlCol="0" anchor="ctr"/>
          <a:lstStyle/>
          <a:p>
            <a:pPr algn="ctr" indent="0" marL="0">
              <a:buNone/>
            </a:pPr>
            <a:r>
              <a:rPr lang="en-US" sz="3800" b="1" dirty="0">
                <a:solidFill>
                  <a:srgbClr val="1E2761"/>
                </a:solidFill>
                <a:latin typeface="Georgia" pitchFamily="34" charset="0"/>
                <a:ea typeface="Georgia" pitchFamily="34" charset="-122"/>
                <a:cs typeface="Georgia" pitchFamily="34" charset="-120"/>
              </a:rPr>
              <a:t>100</a:t>
            </a:r>
            <a:endParaRPr lang="en-US" sz="3800" dirty="0"/>
          </a:p>
        </p:txBody>
      </p:sp>
      <p:sp>
        <p:nvSpPr>
          <p:cNvPr id="13" name="Text 10"/>
          <p:cNvSpPr/>
          <p:nvPr/>
        </p:nvSpPr>
        <p:spPr>
          <a:xfrm>
            <a:off x="3291840" y="2450592"/>
            <a:ext cx="2606040" cy="274320"/>
          </a:xfrm>
          <a:prstGeom prst="rect">
            <a:avLst/>
          </a:prstGeom>
          <a:noFill/>
          <a:ln/>
        </p:spPr>
        <p:txBody>
          <a:bodyPr wrap="square" lIns="0" tIns="0" rIns="0" bIns="0" rtlCol="0" anchor="ctr"/>
          <a:lstStyle/>
          <a:p>
            <a:pPr algn="ctr" indent="0" marL="0">
              <a:buNone/>
            </a:pPr>
            <a:r>
              <a:rPr lang="en-US" sz="1250" b="1" dirty="0">
                <a:solidFill>
                  <a:srgbClr val="22293B"/>
                </a:solidFill>
                <a:latin typeface="Calibri" pitchFamily="34" charset="0"/>
                <a:ea typeface="Calibri" pitchFamily="34" charset="-122"/>
                <a:cs typeface="Calibri" pitchFamily="34" charset="-120"/>
              </a:rPr>
              <a:t>holdout scenarios</a:t>
            </a:r>
            <a:endParaRPr lang="en-US" sz="1250" dirty="0"/>
          </a:p>
        </p:txBody>
      </p:sp>
      <p:sp>
        <p:nvSpPr>
          <p:cNvPr id="14" name="Text 11"/>
          <p:cNvSpPr/>
          <p:nvPr/>
        </p:nvSpPr>
        <p:spPr>
          <a:xfrm>
            <a:off x="3474720" y="2743200"/>
            <a:ext cx="2240280" cy="685800"/>
          </a:xfrm>
          <a:prstGeom prst="rect">
            <a:avLst/>
          </a:prstGeom>
          <a:noFill/>
          <a:ln/>
        </p:spPr>
        <p:txBody>
          <a:bodyPr wrap="square" lIns="0" tIns="0" rIns="0" bIns="0" rtlCol="0" anchor="ctr"/>
          <a:lstStyle/>
          <a:p>
            <a:pPr algn="ctr" indent="0" marL="0">
              <a:buNone/>
            </a:pPr>
            <a:r>
              <a:rPr lang="en-US" sz="1000" dirty="0">
                <a:solidFill>
                  <a:srgbClr val="5A6478"/>
                </a:solidFill>
                <a:latin typeface="Calibri" pitchFamily="34" charset="0"/>
                <a:ea typeface="Calibri" pitchFamily="34" charset="-122"/>
                <a:cs typeface="Calibri" pitchFamily="34" charset="-120"/>
              </a:rPr>
              <a:t>generator-created from 10 families, seeded (42), never seen during tuning</a:t>
            </a:r>
            <a:endParaRPr lang="en-US" sz="1000" dirty="0"/>
          </a:p>
        </p:txBody>
      </p:sp>
      <p:sp>
        <p:nvSpPr>
          <p:cNvPr id="15" name="Shape 12"/>
          <p:cNvSpPr/>
          <p:nvPr/>
        </p:nvSpPr>
        <p:spPr>
          <a:xfrm>
            <a:off x="6080760" y="1600200"/>
            <a:ext cx="2606040" cy="19202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6" name="Text 13"/>
          <p:cNvSpPr/>
          <p:nvPr/>
        </p:nvSpPr>
        <p:spPr>
          <a:xfrm>
            <a:off x="6080760" y="1764792"/>
            <a:ext cx="2606040" cy="685800"/>
          </a:xfrm>
          <a:prstGeom prst="rect">
            <a:avLst/>
          </a:prstGeom>
          <a:noFill/>
          <a:ln/>
        </p:spPr>
        <p:txBody>
          <a:bodyPr wrap="square" lIns="0" tIns="0" rIns="0" bIns="0" rtlCol="0" anchor="ctr"/>
          <a:lstStyle/>
          <a:p>
            <a:pPr algn="ctr" indent="0" marL="0">
              <a:buNone/>
            </a:pPr>
            <a:r>
              <a:rPr lang="en-US" sz="3800" b="1" dirty="0">
                <a:solidFill>
                  <a:srgbClr val="2E7D52"/>
                </a:solidFill>
                <a:latin typeface="Georgia" pitchFamily="34" charset="0"/>
                <a:ea typeface="Georgia" pitchFamily="34" charset="-122"/>
                <a:cs typeface="Georgia" pitchFamily="34" charset="-120"/>
              </a:rPr>
              <a:t>44 / 56</a:t>
            </a:r>
            <a:endParaRPr lang="en-US" sz="3800" dirty="0"/>
          </a:p>
        </p:txBody>
      </p:sp>
      <p:sp>
        <p:nvSpPr>
          <p:cNvPr id="17" name="Text 14"/>
          <p:cNvSpPr/>
          <p:nvPr/>
        </p:nvSpPr>
        <p:spPr>
          <a:xfrm>
            <a:off x="6080760" y="2450592"/>
            <a:ext cx="2606040" cy="274320"/>
          </a:xfrm>
          <a:prstGeom prst="rect">
            <a:avLst/>
          </a:prstGeom>
          <a:noFill/>
          <a:ln/>
        </p:spPr>
        <p:txBody>
          <a:bodyPr wrap="square" lIns="0" tIns="0" rIns="0" bIns="0" rtlCol="0" anchor="ctr"/>
          <a:lstStyle/>
          <a:p>
            <a:pPr algn="ctr" indent="0" marL="0">
              <a:buNone/>
            </a:pPr>
            <a:r>
              <a:rPr lang="en-US" sz="1250" b="1" dirty="0">
                <a:solidFill>
                  <a:srgbClr val="22293B"/>
                </a:solidFill>
                <a:latin typeface="Calibri" pitchFamily="34" charset="0"/>
                <a:ea typeface="Calibri" pitchFamily="34" charset="-122"/>
                <a:cs typeface="Calibri" pitchFamily="34" charset="-120"/>
              </a:rPr>
              <a:t>benign / attack split</a:t>
            </a:r>
            <a:endParaRPr lang="en-US" sz="1250" dirty="0"/>
          </a:p>
        </p:txBody>
      </p:sp>
      <p:sp>
        <p:nvSpPr>
          <p:cNvPr id="18" name="Text 15"/>
          <p:cNvSpPr/>
          <p:nvPr/>
        </p:nvSpPr>
        <p:spPr>
          <a:xfrm>
            <a:off x="6263640" y="2743200"/>
            <a:ext cx="2240280" cy="685800"/>
          </a:xfrm>
          <a:prstGeom prst="rect">
            <a:avLst/>
          </a:prstGeom>
          <a:noFill/>
          <a:ln/>
        </p:spPr>
        <p:txBody>
          <a:bodyPr wrap="square" lIns="0" tIns="0" rIns="0" bIns="0" rtlCol="0" anchor="ctr"/>
          <a:lstStyle/>
          <a:p>
            <a:pPr algn="ctr" indent="0" marL="0">
              <a:buNone/>
            </a:pPr>
            <a:r>
              <a:rPr lang="en-US" sz="1000" dirty="0">
                <a:solidFill>
                  <a:srgbClr val="5A6478"/>
                </a:solidFill>
                <a:latin typeface="Calibri" pitchFamily="34" charset="0"/>
                <a:ea typeface="Calibri" pitchFamily="34" charset="-122"/>
                <a:cs typeface="Calibri" pitchFamily="34" charset="-120"/>
              </a:rPr>
              <a:t>incl. 34 hard-benign: legitimate activity designed to flood the rule layer</a:t>
            </a:r>
            <a:endParaRPr lang="en-US" sz="1000" dirty="0"/>
          </a:p>
        </p:txBody>
      </p:sp>
      <p:sp>
        <p:nvSpPr>
          <p:cNvPr id="19" name="Shape 16"/>
          <p:cNvSpPr/>
          <p:nvPr/>
        </p:nvSpPr>
        <p:spPr>
          <a:xfrm>
            <a:off x="502920" y="3749040"/>
            <a:ext cx="8138160" cy="86868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0" name="Text 17"/>
          <p:cNvSpPr/>
          <p:nvPr/>
        </p:nvSpPr>
        <p:spPr>
          <a:xfrm>
            <a:off x="731520" y="3822192"/>
            <a:ext cx="7680960" cy="7315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Anti-designer-bias controls:  </a:t>
            </a:r>
            <a:pPr indent="0" marL="0">
              <a:buNone/>
            </a:pPr>
            <a:r>
              <a:rPr lang="en-US" sz="1200" dirty="0">
                <a:solidFill>
                  <a:srgbClr val="22293B"/>
                </a:solidFill>
                <a:latin typeface="Calibri" pitchFamily="34" charset="0"/>
                <a:ea typeface="Calibri" pitchFamily="34" charset="-122"/>
                <a:cs typeface="Calibri" pitchFamily="34" charset="-120"/>
              </a:rPr>
              <a:t>parameter distributions committed to an auditable spec (corpus_spec.yaml) · fixed seed → byte-identical regeneration · calibration/holdout split reported separately · frozen prompt, rules, and validator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RESULTS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Holdout (n=100): the asymmetry is the result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8</a:t>
            </a:r>
            <a:endParaRPr lang="en-US" sz="1000" dirty="0"/>
          </a:p>
        </p:txBody>
      </p:sp>
      <p:pic>
        <p:nvPicPr>
          <p:cNvPr id="7" name="Image 0" descr="/tmp/fig11_confusion_holdout.png">    </p:cNvPr>
          <p:cNvPicPr>
            <a:picLocks noChangeAspect="1"/>
          </p:cNvPicPr>
          <p:nvPr/>
        </p:nvPicPr>
        <p:blipFill>
          <a:blip r:embed="rId1"/>
          <a:stretch>
            <a:fillRect/>
          </a:stretch>
        </p:blipFill>
        <p:spPr>
          <a:xfrm>
            <a:off x="457200" y="1691640"/>
            <a:ext cx="4983480" cy="2201158"/>
          </a:xfrm>
          <a:prstGeom prst="rect">
            <a:avLst/>
          </a:prstGeom>
        </p:spPr>
      </p:pic>
      <p:sp>
        <p:nvSpPr>
          <p:cNvPr id="8" name="Text 4"/>
          <p:cNvSpPr/>
          <p:nvPr/>
        </p:nvSpPr>
        <p:spPr>
          <a:xfrm>
            <a:off x="502920" y="3977640"/>
            <a:ext cx="484632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Rules: errs both ways.   Gemma: misses NOTHING, over-flags benign.</a:t>
            </a:r>
            <a:endParaRPr lang="en-US" sz="1150" dirty="0"/>
          </a:p>
        </p:txBody>
      </p:sp>
      <p:sp>
        <p:nvSpPr>
          <p:cNvPr id="9" name="Text 5"/>
          <p:cNvSpPr/>
          <p:nvPr/>
        </p:nvSpPr>
        <p:spPr>
          <a:xfrm>
            <a:off x="5623560" y="1691640"/>
            <a:ext cx="1143000" cy="274320"/>
          </a:xfrm>
          <a:prstGeom prst="rect">
            <a:avLst/>
          </a:prstGeom>
          <a:noFill/>
          <a:ln/>
        </p:spPr>
        <p:txBody>
          <a:bodyPr wrap="square" lIns="0" tIns="0" rIns="0" bIns="0" rtlCol="0" anchor="ctr"/>
          <a:lstStyle/>
          <a:p>
            <a:pPr indent="0" marL="0">
              <a:buNone/>
            </a:pPr>
            <a:r>
              <a:rPr lang="en-US" sz="1050" b="1" dirty="0">
                <a:solidFill>
                  <a:srgbClr val="5A6478"/>
                </a:solidFill>
                <a:latin typeface="Calibri" pitchFamily="34" charset="0"/>
                <a:ea typeface="Calibri" pitchFamily="34" charset="-122"/>
                <a:cs typeface="Calibri" pitchFamily="34" charset="-120"/>
              </a:rPr>
              <a:t>slice</a:t>
            </a:r>
            <a:endParaRPr lang="en-US" sz="1050" dirty="0"/>
          </a:p>
        </p:txBody>
      </p:sp>
      <p:sp>
        <p:nvSpPr>
          <p:cNvPr id="10" name="Text 6"/>
          <p:cNvSpPr/>
          <p:nvPr/>
        </p:nvSpPr>
        <p:spPr>
          <a:xfrm>
            <a:off x="6766560" y="1691640"/>
            <a:ext cx="658368" cy="274320"/>
          </a:xfrm>
          <a:prstGeom prst="rect">
            <a:avLst/>
          </a:prstGeom>
          <a:noFill/>
          <a:ln/>
        </p:spPr>
        <p:txBody>
          <a:bodyPr wrap="square" lIns="0" tIns="0" rIns="0" bIns="0" rtlCol="0" anchor="ctr"/>
          <a:lstStyle/>
          <a:p>
            <a:pPr indent="0" marL="0">
              <a:buNone/>
            </a:pPr>
            <a:r>
              <a:rPr lang="en-US" sz="1050" b="1" dirty="0">
                <a:solidFill>
                  <a:srgbClr val="5A6478"/>
                </a:solidFill>
                <a:latin typeface="Calibri" pitchFamily="34" charset="0"/>
                <a:ea typeface="Calibri" pitchFamily="34" charset="-122"/>
                <a:cs typeface="Calibri" pitchFamily="34" charset="-120"/>
              </a:rPr>
              <a:t>rules</a:t>
            </a:r>
            <a:endParaRPr lang="en-US" sz="1050" dirty="0"/>
          </a:p>
        </p:txBody>
      </p:sp>
      <p:sp>
        <p:nvSpPr>
          <p:cNvPr id="11" name="Text 7"/>
          <p:cNvSpPr/>
          <p:nvPr/>
        </p:nvSpPr>
        <p:spPr>
          <a:xfrm>
            <a:off x="7424928" y="1691640"/>
            <a:ext cx="713232" cy="274320"/>
          </a:xfrm>
          <a:prstGeom prst="rect">
            <a:avLst/>
          </a:prstGeom>
          <a:noFill/>
          <a:ln/>
        </p:spPr>
        <p:txBody>
          <a:bodyPr wrap="square" lIns="0" tIns="0" rIns="0" bIns="0" rtlCol="0" anchor="ctr"/>
          <a:lstStyle/>
          <a:p>
            <a:pPr indent="0" marL="0">
              <a:buNone/>
            </a:pPr>
            <a:r>
              <a:rPr lang="en-US" sz="1050" b="1" dirty="0">
                <a:solidFill>
                  <a:srgbClr val="5A6478"/>
                </a:solidFill>
                <a:latin typeface="Calibri" pitchFamily="34" charset="0"/>
                <a:ea typeface="Calibri" pitchFamily="34" charset="-122"/>
                <a:cs typeface="Calibri" pitchFamily="34" charset="-120"/>
              </a:rPr>
              <a:t>Gemma</a:t>
            </a:r>
            <a:endParaRPr lang="en-US" sz="1050" dirty="0"/>
          </a:p>
        </p:txBody>
      </p:sp>
      <p:sp>
        <p:nvSpPr>
          <p:cNvPr id="12" name="Shape 8"/>
          <p:cNvSpPr/>
          <p:nvPr/>
        </p:nvSpPr>
        <p:spPr>
          <a:xfrm>
            <a:off x="5513832" y="1938528"/>
            <a:ext cx="3200400" cy="47548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3" name="Text 9"/>
          <p:cNvSpPr/>
          <p:nvPr/>
        </p:nvSpPr>
        <p:spPr>
          <a:xfrm>
            <a:off x="5623560" y="1993392"/>
            <a:ext cx="1188720" cy="365760"/>
          </a:xfrm>
          <a:prstGeom prst="rect">
            <a:avLst/>
          </a:prstGeom>
          <a:noFill/>
          <a:ln/>
        </p:spPr>
        <p:txBody>
          <a:bodyPr wrap="square" lIns="0" tIns="0" rIns="0" bIns="0" rtlCol="0" anchor="ctr"/>
          <a:lstStyle/>
          <a:p>
            <a:pPr indent="0" marL="0">
              <a:buNone/>
            </a:pPr>
            <a:r>
              <a:rPr lang="en-US" sz="1100" b="1" dirty="0">
                <a:solidFill>
                  <a:srgbClr val="22293B"/>
                </a:solidFill>
                <a:latin typeface="Calibri" pitchFamily="34" charset="0"/>
                <a:ea typeface="Calibri" pitchFamily="34" charset="-122"/>
                <a:cs typeface="Calibri" pitchFamily="34" charset="-120"/>
              </a:rPr>
              <a:t>Overall</a:t>
            </a:r>
            <a:endParaRPr lang="en-US" sz="1100" dirty="0"/>
          </a:p>
        </p:txBody>
      </p:sp>
      <p:sp>
        <p:nvSpPr>
          <p:cNvPr id="14" name="Text 10"/>
          <p:cNvSpPr/>
          <p:nvPr/>
        </p:nvSpPr>
        <p:spPr>
          <a:xfrm>
            <a:off x="6766560" y="1993392"/>
            <a:ext cx="658368" cy="365760"/>
          </a:xfrm>
          <a:prstGeom prst="rect">
            <a:avLst/>
          </a:prstGeom>
          <a:noFill/>
          <a:ln/>
        </p:spPr>
        <p:txBody>
          <a:bodyPr wrap="square" lIns="0" tIns="0" rIns="0" bIns="0" rtlCol="0" anchor="ctr"/>
          <a:lstStyle/>
          <a:p>
            <a:pPr indent="0" marL="0">
              <a:buNone/>
            </a:pPr>
            <a:r>
              <a:rPr lang="en-US" sz="1200" dirty="0">
                <a:solidFill>
                  <a:srgbClr val="22293B"/>
                </a:solidFill>
                <a:latin typeface="Calibri" pitchFamily="34" charset="0"/>
                <a:ea typeface="Calibri" pitchFamily="34" charset="-122"/>
                <a:cs typeface="Calibri" pitchFamily="34" charset="-120"/>
              </a:rPr>
              <a:t>70.0%</a:t>
            </a:r>
            <a:endParaRPr lang="en-US" sz="1200" dirty="0"/>
          </a:p>
        </p:txBody>
      </p:sp>
      <p:sp>
        <p:nvSpPr>
          <p:cNvPr id="15" name="Text 11"/>
          <p:cNvSpPr/>
          <p:nvPr/>
        </p:nvSpPr>
        <p:spPr>
          <a:xfrm>
            <a:off x="7424928" y="1993392"/>
            <a:ext cx="713232" cy="365760"/>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78.0%</a:t>
            </a:r>
            <a:endParaRPr lang="en-US" sz="1200" dirty="0"/>
          </a:p>
        </p:txBody>
      </p:sp>
      <p:sp>
        <p:nvSpPr>
          <p:cNvPr id="16" name="Text 12"/>
          <p:cNvSpPr/>
          <p:nvPr/>
        </p:nvSpPr>
        <p:spPr>
          <a:xfrm>
            <a:off x="8019288" y="1993392"/>
            <a:ext cx="86868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p = 0.243</a:t>
            </a:r>
            <a:endParaRPr lang="en-US" sz="950" dirty="0"/>
          </a:p>
        </p:txBody>
      </p:sp>
      <p:sp>
        <p:nvSpPr>
          <p:cNvPr id="17" name="Shape 13"/>
          <p:cNvSpPr/>
          <p:nvPr/>
        </p:nvSpPr>
        <p:spPr>
          <a:xfrm>
            <a:off x="5513832" y="2505456"/>
            <a:ext cx="3200400" cy="47548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8" name="Text 14"/>
          <p:cNvSpPr/>
          <p:nvPr/>
        </p:nvSpPr>
        <p:spPr>
          <a:xfrm>
            <a:off x="5623560" y="2560320"/>
            <a:ext cx="1188720" cy="365760"/>
          </a:xfrm>
          <a:prstGeom prst="rect">
            <a:avLst/>
          </a:prstGeom>
          <a:noFill/>
          <a:ln/>
        </p:spPr>
        <p:txBody>
          <a:bodyPr wrap="square" lIns="0" tIns="0" rIns="0" bIns="0" rtlCol="0" anchor="ctr"/>
          <a:lstStyle/>
          <a:p>
            <a:pPr indent="0" marL="0">
              <a:buNone/>
            </a:pPr>
            <a:r>
              <a:rPr lang="en-US" sz="1100" b="1" dirty="0">
                <a:solidFill>
                  <a:srgbClr val="22293B"/>
                </a:solidFill>
                <a:latin typeface="Calibri" pitchFamily="34" charset="0"/>
                <a:ea typeface="Calibri" pitchFamily="34" charset="-122"/>
                <a:cs typeface="Calibri" pitchFamily="34" charset="-120"/>
              </a:rPr>
              <a:t>Attack only (56)</a:t>
            </a:r>
            <a:endParaRPr lang="en-US" sz="1100" dirty="0"/>
          </a:p>
        </p:txBody>
      </p:sp>
      <p:sp>
        <p:nvSpPr>
          <p:cNvPr id="19" name="Text 15"/>
          <p:cNvSpPr/>
          <p:nvPr/>
        </p:nvSpPr>
        <p:spPr>
          <a:xfrm>
            <a:off x="6766560" y="2560320"/>
            <a:ext cx="658368" cy="365760"/>
          </a:xfrm>
          <a:prstGeom prst="rect">
            <a:avLst/>
          </a:prstGeom>
          <a:noFill/>
          <a:ln/>
        </p:spPr>
        <p:txBody>
          <a:bodyPr wrap="square" lIns="0" tIns="0" rIns="0" bIns="0" rtlCol="0" anchor="ctr"/>
          <a:lstStyle/>
          <a:p>
            <a:pPr indent="0" marL="0">
              <a:buNone/>
            </a:pPr>
            <a:r>
              <a:rPr lang="en-US" sz="1200" dirty="0">
                <a:solidFill>
                  <a:srgbClr val="22293B"/>
                </a:solidFill>
                <a:latin typeface="Calibri" pitchFamily="34" charset="0"/>
                <a:ea typeface="Calibri" pitchFamily="34" charset="-122"/>
                <a:cs typeface="Calibri" pitchFamily="34" charset="-120"/>
              </a:rPr>
              <a:t>69.6%</a:t>
            </a:r>
            <a:endParaRPr lang="en-US" sz="1200" dirty="0"/>
          </a:p>
        </p:txBody>
      </p:sp>
      <p:sp>
        <p:nvSpPr>
          <p:cNvPr id="20" name="Text 16"/>
          <p:cNvSpPr/>
          <p:nvPr/>
        </p:nvSpPr>
        <p:spPr>
          <a:xfrm>
            <a:off x="7424928" y="2560320"/>
            <a:ext cx="713232" cy="365760"/>
          </a:xfrm>
          <a:prstGeom prst="rect">
            <a:avLst/>
          </a:prstGeom>
          <a:noFill/>
          <a:ln/>
        </p:spPr>
        <p:txBody>
          <a:bodyPr wrap="square" lIns="0" tIns="0" rIns="0" bIns="0" rtlCol="0" anchor="ctr"/>
          <a:lstStyle/>
          <a:p>
            <a:pPr indent="0" marL="0">
              <a:buNone/>
            </a:pPr>
            <a:r>
              <a:rPr lang="en-US" sz="1200" b="1" dirty="0">
                <a:solidFill>
                  <a:srgbClr val="2E7D52"/>
                </a:solidFill>
                <a:latin typeface="Calibri" pitchFamily="34" charset="0"/>
                <a:ea typeface="Calibri" pitchFamily="34" charset="-122"/>
                <a:cs typeface="Calibri" pitchFamily="34" charset="-120"/>
              </a:rPr>
              <a:t>100%</a:t>
            </a:r>
            <a:endParaRPr lang="en-US" sz="1200" dirty="0"/>
          </a:p>
        </p:txBody>
      </p:sp>
      <p:sp>
        <p:nvSpPr>
          <p:cNvPr id="21" name="Text 17"/>
          <p:cNvSpPr/>
          <p:nvPr/>
        </p:nvSpPr>
        <p:spPr>
          <a:xfrm>
            <a:off x="8019288" y="2560320"/>
            <a:ext cx="868680" cy="365760"/>
          </a:xfrm>
          <a:prstGeom prst="rect">
            <a:avLst/>
          </a:prstGeom>
          <a:noFill/>
          <a:ln/>
        </p:spPr>
        <p:txBody>
          <a:bodyPr wrap="square" lIns="0" tIns="0" rIns="0" bIns="0" rtlCol="0" anchor="ctr"/>
          <a:lstStyle/>
          <a:p>
            <a:pPr indent="0" marL="0">
              <a:buNone/>
            </a:pPr>
            <a:r>
              <a:rPr lang="en-US" sz="950" b="1" dirty="0">
                <a:solidFill>
                  <a:srgbClr val="2E7D52"/>
                </a:solidFill>
                <a:latin typeface="Calibri" pitchFamily="34" charset="0"/>
                <a:ea typeface="Calibri" pitchFamily="34" charset="-122"/>
                <a:cs typeface="Calibri" pitchFamily="34" charset="-120"/>
              </a:rPr>
              <a:t>p &lt; 0.001</a:t>
            </a:r>
            <a:endParaRPr lang="en-US" sz="950" dirty="0"/>
          </a:p>
        </p:txBody>
      </p:sp>
      <p:sp>
        <p:nvSpPr>
          <p:cNvPr id="22" name="Shape 18"/>
          <p:cNvSpPr/>
          <p:nvPr/>
        </p:nvSpPr>
        <p:spPr>
          <a:xfrm>
            <a:off x="5513832" y="3072384"/>
            <a:ext cx="3200400" cy="47548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3" name="Text 19"/>
          <p:cNvSpPr/>
          <p:nvPr/>
        </p:nvSpPr>
        <p:spPr>
          <a:xfrm>
            <a:off x="5623560" y="3127248"/>
            <a:ext cx="1188720" cy="365760"/>
          </a:xfrm>
          <a:prstGeom prst="rect">
            <a:avLst/>
          </a:prstGeom>
          <a:noFill/>
          <a:ln/>
        </p:spPr>
        <p:txBody>
          <a:bodyPr wrap="square" lIns="0" tIns="0" rIns="0" bIns="0" rtlCol="0" anchor="ctr"/>
          <a:lstStyle/>
          <a:p>
            <a:pPr indent="0" marL="0">
              <a:buNone/>
            </a:pPr>
            <a:r>
              <a:rPr lang="en-US" sz="1100" b="1" dirty="0">
                <a:solidFill>
                  <a:srgbClr val="22293B"/>
                </a:solidFill>
                <a:latin typeface="Calibri" pitchFamily="34" charset="0"/>
                <a:ea typeface="Calibri" pitchFamily="34" charset="-122"/>
                <a:cs typeface="Calibri" pitchFamily="34" charset="-120"/>
              </a:rPr>
              <a:t>Benign only (44)</a:t>
            </a:r>
            <a:endParaRPr lang="en-US" sz="1100" dirty="0"/>
          </a:p>
        </p:txBody>
      </p:sp>
      <p:sp>
        <p:nvSpPr>
          <p:cNvPr id="24" name="Text 20"/>
          <p:cNvSpPr/>
          <p:nvPr/>
        </p:nvSpPr>
        <p:spPr>
          <a:xfrm>
            <a:off x="6766560" y="3127248"/>
            <a:ext cx="658368" cy="365760"/>
          </a:xfrm>
          <a:prstGeom prst="rect">
            <a:avLst/>
          </a:prstGeom>
          <a:noFill/>
          <a:ln/>
        </p:spPr>
        <p:txBody>
          <a:bodyPr wrap="square" lIns="0" tIns="0" rIns="0" bIns="0" rtlCol="0" anchor="ctr"/>
          <a:lstStyle/>
          <a:p>
            <a:pPr indent="0" marL="0">
              <a:buNone/>
            </a:pPr>
            <a:r>
              <a:rPr lang="en-US" sz="1200" dirty="0">
                <a:solidFill>
                  <a:srgbClr val="22293B"/>
                </a:solidFill>
                <a:latin typeface="Calibri" pitchFamily="34" charset="0"/>
                <a:ea typeface="Calibri" pitchFamily="34" charset="-122"/>
                <a:cs typeface="Calibri" pitchFamily="34" charset="-120"/>
              </a:rPr>
              <a:t>70.5%</a:t>
            </a:r>
            <a:endParaRPr lang="en-US" sz="1200" dirty="0"/>
          </a:p>
        </p:txBody>
      </p:sp>
      <p:sp>
        <p:nvSpPr>
          <p:cNvPr id="25" name="Text 21"/>
          <p:cNvSpPr/>
          <p:nvPr/>
        </p:nvSpPr>
        <p:spPr>
          <a:xfrm>
            <a:off x="7424928" y="3127248"/>
            <a:ext cx="713232" cy="365760"/>
          </a:xfrm>
          <a:prstGeom prst="rect">
            <a:avLst/>
          </a:prstGeom>
          <a:noFill/>
          <a:ln/>
        </p:spPr>
        <p:txBody>
          <a:bodyPr wrap="square" lIns="0" tIns="0" rIns="0" bIns="0" rtlCol="0" anchor="ctr"/>
          <a:lstStyle/>
          <a:p>
            <a:pPr indent="0" marL="0">
              <a:buNone/>
            </a:pPr>
            <a:r>
              <a:rPr lang="en-US" sz="1200" b="1" dirty="0">
                <a:solidFill>
                  <a:srgbClr val="A03030"/>
                </a:solidFill>
                <a:latin typeface="Calibri" pitchFamily="34" charset="0"/>
                <a:ea typeface="Calibri" pitchFamily="34" charset="-122"/>
                <a:cs typeface="Calibri" pitchFamily="34" charset="-120"/>
              </a:rPr>
              <a:t>50.0%</a:t>
            </a:r>
            <a:endParaRPr lang="en-US" sz="1200" dirty="0"/>
          </a:p>
        </p:txBody>
      </p:sp>
      <p:sp>
        <p:nvSpPr>
          <p:cNvPr id="26" name="Text 22"/>
          <p:cNvSpPr/>
          <p:nvPr/>
        </p:nvSpPr>
        <p:spPr>
          <a:xfrm>
            <a:off x="8019288" y="3127248"/>
            <a:ext cx="86868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p = 0.064</a:t>
            </a:r>
            <a:endParaRPr lang="en-US" sz="950" dirty="0"/>
          </a:p>
        </p:txBody>
      </p:sp>
      <p:sp>
        <p:nvSpPr>
          <p:cNvPr id="27" name="Shape 23"/>
          <p:cNvSpPr/>
          <p:nvPr/>
        </p:nvSpPr>
        <p:spPr>
          <a:xfrm>
            <a:off x="5513832" y="3639312"/>
            <a:ext cx="3200400" cy="47548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8" name="Text 24"/>
          <p:cNvSpPr/>
          <p:nvPr/>
        </p:nvSpPr>
        <p:spPr>
          <a:xfrm>
            <a:off x="5623560" y="3694176"/>
            <a:ext cx="1188720" cy="365760"/>
          </a:xfrm>
          <a:prstGeom prst="rect">
            <a:avLst/>
          </a:prstGeom>
          <a:noFill/>
          <a:ln/>
        </p:spPr>
        <p:txBody>
          <a:bodyPr wrap="square" lIns="0" tIns="0" rIns="0" bIns="0" rtlCol="0" anchor="ctr"/>
          <a:lstStyle/>
          <a:p>
            <a:pPr indent="0" marL="0">
              <a:buNone/>
            </a:pPr>
            <a:r>
              <a:rPr lang="en-US" sz="1100" b="1" dirty="0">
                <a:solidFill>
                  <a:srgbClr val="22293B"/>
                </a:solidFill>
                <a:latin typeface="Calibri" pitchFamily="34" charset="0"/>
                <a:ea typeface="Calibri" pitchFamily="34" charset="-122"/>
                <a:cs typeface="Calibri" pitchFamily="34" charset="-120"/>
              </a:rPr>
              <a:t>Hard benign (34)</a:t>
            </a:r>
            <a:endParaRPr lang="en-US" sz="1100" dirty="0"/>
          </a:p>
        </p:txBody>
      </p:sp>
      <p:sp>
        <p:nvSpPr>
          <p:cNvPr id="29" name="Text 25"/>
          <p:cNvSpPr/>
          <p:nvPr/>
        </p:nvSpPr>
        <p:spPr>
          <a:xfrm>
            <a:off x="6766560" y="3694176"/>
            <a:ext cx="658368" cy="365760"/>
          </a:xfrm>
          <a:prstGeom prst="rect">
            <a:avLst/>
          </a:prstGeom>
          <a:noFill/>
          <a:ln/>
        </p:spPr>
        <p:txBody>
          <a:bodyPr wrap="square" lIns="0" tIns="0" rIns="0" bIns="0" rtlCol="0" anchor="ctr"/>
          <a:lstStyle/>
          <a:p>
            <a:pPr indent="0" marL="0">
              <a:buNone/>
            </a:pPr>
            <a:r>
              <a:rPr lang="en-US" sz="1200" dirty="0">
                <a:solidFill>
                  <a:srgbClr val="22293B"/>
                </a:solidFill>
                <a:latin typeface="Calibri" pitchFamily="34" charset="0"/>
                <a:ea typeface="Calibri" pitchFamily="34" charset="-122"/>
                <a:cs typeface="Calibri" pitchFamily="34" charset="-120"/>
              </a:rPr>
              <a:t>61.8%</a:t>
            </a:r>
            <a:endParaRPr lang="en-US" sz="1200" dirty="0"/>
          </a:p>
        </p:txBody>
      </p:sp>
      <p:sp>
        <p:nvSpPr>
          <p:cNvPr id="30" name="Text 26"/>
          <p:cNvSpPr/>
          <p:nvPr/>
        </p:nvSpPr>
        <p:spPr>
          <a:xfrm>
            <a:off x="7424928" y="3694176"/>
            <a:ext cx="713232" cy="365760"/>
          </a:xfrm>
          <a:prstGeom prst="rect">
            <a:avLst/>
          </a:prstGeom>
          <a:noFill/>
          <a:ln/>
        </p:spPr>
        <p:txBody>
          <a:bodyPr wrap="square" lIns="0" tIns="0" rIns="0" bIns="0" rtlCol="0" anchor="ctr"/>
          <a:lstStyle/>
          <a:p>
            <a:pPr indent="0" marL="0">
              <a:buNone/>
            </a:pPr>
            <a:r>
              <a:rPr lang="en-US" sz="1200" b="1" dirty="0">
                <a:solidFill>
                  <a:srgbClr val="A03030"/>
                </a:solidFill>
                <a:latin typeface="Calibri" pitchFamily="34" charset="0"/>
                <a:ea typeface="Calibri" pitchFamily="34" charset="-122"/>
                <a:cs typeface="Calibri" pitchFamily="34" charset="-120"/>
              </a:rPr>
              <a:t>38.2%</a:t>
            </a:r>
            <a:endParaRPr lang="en-US" sz="1200" dirty="0"/>
          </a:p>
        </p:txBody>
      </p:sp>
      <p:sp>
        <p:nvSpPr>
          <p:cNvPr id="31" name="Text 27"/>
          <p:cNvSpPr/>
          <p:nvPr/>
        </p:nvSpPr>
        <p:spPr>
          <a:xfrm>
            <a:off x="8019288" y="3694176"/>
            <a:ext cx="86868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p = 0.096</a:t>
            </a:r>
            <a:endParaRPr lang="en-US" sz="950" dirty="0"/>
          </a:p>
        </p:txBody>
      </p:sp>
      <p:sp>
        <p:nvSpPr>
          <p:cNvPr id="32" name="Text 28"/>
          <p:cNvSpPr/>
          <p:nvPr/>
        </p:nvSpPr>
        <p:spPr>
          <a:xfrm>
            <a:off x="5513832" y="4370832"/>
            <a:ext cx="3291840" cy="457200"/>
          </a:xfrm>
          <a:prstGeom prst="rect">
            <a:avLst/>
          </a:prstGeom>
          <a:noFill/>
          <a:ln/>
        </p:spPr>
        <p:txBody>
          <a:bodyPr wrap="square" lIns="0" tIns="0" rIns="0" bIns="0" rtlCol="0" anchor="ctr"/>
          <a:lstStyle/>
          <a:p>
            <a:pPr indent="0" marL="0">
              <a:buNone/>
            </a:pPr>
            <a:r>
              <a:rPr lang="en-US" sz="950" i="1" dirty="0">
                <a:solidFill>
                  <a:srgbClr val="5A6478"/>
                </a:solidFill>
                <a:latin typeface="Calibri" pitchFamily="34" charset="0"/>
                <a:ea typeface="Calibri" pitchFamily="34" charset="-122"/>
                <a:cs typeface="Calibri" pitchFamily="34" charset="-120"/>
              </a:rPr>
              <a:t>McNemar exact, paired on identical scenarios. CIs in the paper.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RESULTS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Grounding holds at scale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02920" y="1600200"/>
            <a:ext cx="3931920" cy="129844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667512" y="1709928"/>
            <a:ext cx="1828800" cy="1078992"/>
          </a:xfrm>
          <a:prstGeom prst="rect">
            <a:avLst/>
          </a:prstGeom>
          <a:noFill/>
          <a:ln/>
        </p:spPr>
        <p:txBody>
          <a:bodyPr wrap="square" lIns="0" tIns="0" rIns="0" bIns="0" rtlCol="0" anchor="ctr"/>
          <a:lstStyle/>
          <a:p>
            <a:pPr algn="ctr" indent="0" marL="0">
              <a:buNone/>
            </a:pPr>
            <a:r>
              <a:rPr lang="en-US" sz="2800" b="1" dirty="0">
                <a:solidFill>
                  <a:srgbClr val="2E7D52"/>
                </a:solidFill>
                <a:latin typeface="Georgia" pitchFamily="34" charset="0"/>
                <a:ea typeface="Georgia" pitchFamily="34" charset="-122"/>
                <a:cs typeface="Georgia" pitchFamily="34" charset="-120"/>
              </a:rPr>
              <a:t>99.95%</a:t>
            </a:r>
            <a:endParaRPr lang="en-US" sz="2800" dirty="0"/>
          </a:p>
        </p:txBody>
      </p:sp>
      <p:sp>
        <p:nvSpPr>
          <p:cNvPr id="9" name="Text 6"/>
          <p:cNvSpPr/>
          <p:nvPr/>
        </p:nvSpPr>
        <p:spPr>
          <a:xfrm>
            <a:off x="2587752" y="1764792"/>
            <a:ext cx="1755648" cy="384048"/>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citation validity</a:t>
            </a:r>
            <a:endParaRPr lang="en-US" sz="1200" dirty="0"/>
          </a:p>
        </p:txBody>
      </p:sp>
      <p:sp>
        <p:nvSpPr>
          <p:cNvPr id="10" name="Text 7"/>
          <p:cNvSpPr/>
          <p:nvPr/>
        </p:nvSpPr>
        <p:spPr>
          <a:xfrm>
            <a:off x="2587752" y="2167128"/>
            <a:ext cx="1755648" cy="658368"/>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2,067 of 2,068 event-ID references resolve to real events</a:t>
            </a:r>
            <a:endParaRPr lang="en-US" sz="950" dirty="0"/>
          </a:p>
        </p:txBody>
      </p:sp>
      <p:sp>
        <p:nvSpPr>
          <p:cNvPr id="11" name="Shape 8"/>
          <p:cNvSpPr/>
          <p:nvPr/>
        </p:nvSpPr>
        <p:spPr>
          <a:xfrm>
            <a:off x="4709160" y="1600200"/>
            <a:ext cx="3931920" cy="129844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2" name="Text 9"/>
          <p:cNvSpPr/>
          <p:nvPr/>
        </p:nvSpPr>
        <p:spPr>
          <a:xfrm>
            <a:off x="4873752" y="1709928"/>
            <a:ext cx="1828800" cy="1078992"/>
          </a:xfrm>
          <a:prstGeom prst="rect">
            <a:avLst/>
          </a:prstGeom>
          <a:noFill/>
          <a:ln/>
        </p:spPr>
        <p:txBody>
          <a:bodyPr wrap="square" lIns="0" tIns="0" rIns="0" bIns="0" rtlCol="0" anchor="ctr"/>
          <a:lstStyle/>
          <a:p>
            <a:pPr algn="ctr" indent="0" marL="0">
              <a:buNone/>
            </a:pPr>
            <a:r>
              <a:rPr lang="en-US" sz="3200" b="1" dirty="0">
                <a:solidFill>
                  <a:srgbClr val="2E7D52"/>
                </a:solidFill>
                <a:latin typeface="Georgia" pitchFamily="34" charset="0"/>
                <a:ea typeface="Georgia" pitchFamily="34" charset="-122"/>
                <a:cs typeface="Georgia" pitchFamily="34" charset="-120"/>
              </a:rPr>
              <a:t>0</a:t>
            </a:r>
            <a:endParaRPr lang="en-US" sz="3200" dirty="0"/>
          </a:p>
        </p:txBody>
      </p:sp>
      <p:sp>
        <p:nvSpPr>
          <p:cNvPr id="13" name="Text 10"/>
          <p:cNvSpPr/>
          <p:nvPr/>
        </p:nvSpPr>
        <p:spPr>
          <a:xfrm>
            <a:off x="6793992" y="1764792"/>
            <a:ext cx="1755648" cy="384048"/>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fabricated event IDs</a:t>
            </a:r>
            <a:endParaRPr lang="en-US" sz="1200" dirty="0"/>
          </a:p>
        </p:txBody>
      </p:sp>
      <p:sp>
        <p:nvSpPr>
          <p:cNvPr id="14" name="Text 11"/>
          <p:cNvSpPr/>
          <p:nvPr/>
        </p:nvSpPr>
        <p:spPr>
          <a:xfrm>
            <a:off x="6793992" y="2167128"/>
            <a:ext cx="1755648" cy="658368"/>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across all 115 scenarios; the one invalid reference is a cited rule ID</a:t>
            </a:r>
            <a:endParaRPr lang="en-US" sz="950" dirty="0"/>
          </a:p>
        </p:txBody>
      </p:sp>
      <p:sp>
        <p:nvSpPr>
          <p:cNvPr id="15" name="Shape 12"/>
          <p:cNvSpPr/>
          <p:nvPr/>
        </p:nvSpPr>
        <p:spPr>
          <a:xfrm>
            <a:off x="502920" y="3081528"/>
            <a:ext cx="3931920" cy="129844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6" name="Text 13"/>
          <p:cNvSpPr/>
          <p:nvPr/>
        </p:nvSpPr>
        <p:spPr>
          <a:xfrm>
            <a:off x="667512" y="3191256"/>
            <a:ext cx="1828800" cy="1078992"/>
          </a:xfrm>
          <a:prstGeom prst="rect">
            <a:avLst/>
          </a:prstGeom>
          <a:noFill/>
          <a:ln/>
        </p:spPr>
        <p:txBody>
          <a:bodyPr wrap="square" lIns="0" tIns="0" rIns="0" bIns="0" rtlCol="0" anchor="ctr"/>
          <a:lstStyle/>
          <a:p>
            <a:pPr algn="ctr" indent="0" marL="0">
              <a:buNone/>
            </a:pPr>
            <a:r>
              <a:rPr lang="en-US" sz="2800" b="1" dirty="0">
                <a:solidFill>
                  <a:srgbClr val="1E2761"/>
                </a:solidFill>
                <a:latin typeface="Georgia" pitchFamily="34" charset="0"/>
                <a:ea typeface="Georgia" pitchFamily="34" charset="-122"/>
                <a:cs typeface="Georgia" pitchFamily="34" charset="-120"/>
              </a:rPr>
              <a:t>κ = 1.0</a:t>
            </a:r>
            <a:endParaRPr lang="en-US" sz="2800" dirty="0"/>
          </a:p>
        </p:txBody>
      </p:sp>
      <p:sp>
        <p:nvSpPr>
          <p:cNvPr id="17" name="Text 14"/>
          <p:cNvSpPr/>
          <p:nvPr/>
        </p:nvSpPr>
        <p:spPr>
          <a:xfrm>
            <a:off x="2587752" y="3246120"/>
            <a:ext cx="1755648" cy="384048"/>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verdict determinism</a:t>
            </a:r>
            <a:endParaRPr lang="en-US" sz="1200" dirty="0"/>
          </a:p>
        </p:txBody>
      </p:sp>
      <p:sp>
        <p:nvSpPr>
          <p:cNvPr id="18" name="Text 15"/>
          <p:cNvSpPr/>
          <p:nvPr/>
        </p:nvSpPr>
        <p:spPr>
          <a:xfrm>
            <a:off x="2587752" y="3648456"/>
            <a:ext cx="1755648" cy="658368"/>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110 repeated runs (22 scenarios × 5): zero verdict flips at T = 0.1</a:t>
            </a:r>
            <a:endParaRPr lang="en-US" sz="950" dirty="0"/>
          </a:p>
        </p:txBody>
      </p:sp>
      <p:sp>
        <p:nvSpPr>
          <p:cNvPr id="19" name="Shape 16"/>
          <p:cNvSpPr/>
          <p:nvPr/>
        </p:nvSpPr>
        <p:spPr>
          <a:xfrm>
            <a:off x="4709160" y="3081528"/>
            <a:ext cx="3931920" cy="1298448"/>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0" name="Text 17"/>
          <p:cNvSpPr/>
          <p:nvPr/>
        </p:nvSpPr>
        <p:spPr>
          <a:xfrm>
            <a:off x="4873752" y="3191256"/>
            <a:ext cx="1828800" cy="1078992"/>
          </a:xfrm>
          <a:prstGeom prst="rect">
            <a:avLst/>
          </a:prstGeom>
          <a:noFill/>
          <a:ln/>
        </p:spPr>
        <p:txBody>
          <a:bodyPr wrap="square" lIns="0" tIns="0" rIns="0" bIns="0" rtlCol="0" anchor="ctr"/>
          <a:lstStyle/>
          <a:p>
            <a:pPr algn="ctr" indent="0" marL="0">
              <a:buNone/>
            </a:pPr>
            <a:r>
              <a:rPr lang="en-US" sz="2100" b="1" dirty="0">
                <a:solidFill>
                  <a:srgbClr val="1E2761"/>
                </a:solidFill>
                <a:latin typeface="Georgia" pitchFamily="34" charset="0"/>
                <a:ea typeface="Georgia" pitchFamily="34" charset="-122"/>
                <a:cs typeface="Georgia" pitchFamily="34" charset="-120"/>
              </a:rPr>
              <a:t>ABSTAINS</a:t>
            </a:r>
            <a:endParaRPr lang="en-US" sz="2100" dirty="0"/>
          </a:p>
        </p:txBody>
      </p:sp>
      <p:sp>
        <p:nvSpPr>
          <p:cNvPr id="21" name="Text 18"/>
          <p:cNvSpPr/>
          <p:nvPr/>
        </p:nvSpPr>
        <p:spPr>
          <a:xfrm>
            <a:off x="6793992" y="3246120"/>
            <a:ext cx="1755648" cy="384048"/>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under evidence starvation</a:t>
            </a:r>
            <a:endParaRPr lang="en-US" sz="1200" dirty="0"/>
          </a:p>
        </p:txBody>
      </p:sp>
      <p:sp>
        <p:nvSpPr>
          <p:cNvPr id="22" name="Text 19"/>
          <p:cNvSpPr/>
          <p:nvPr/>
        </p:nvSpPr>
        <p:spPr>
          <a:xfrm>
            <a:off x="6793992" y="3648456"/>
            <a:ext cx="1755648" cy="658368"/>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60–80% event removal → INSUFFICIENT, not fabrication</a:t>
            </a:r>
            <a:endParaRPr lang="en-US" sz="950" dirty="0"/>
          </a:p>
        </p:txBody>
      </p:sp>
      <p:sp>
        <p:nvSpPr>
          <p:cNvPr id="23" name="Text 20"/>
          <p:cNvSpPr/>
          <p:nvPr/>
        </p:nvSpPr>
        <p:spPr>
          <a:xfrm>
            <a:off x="502920" y="4572000"/>
            <a:ext cx="813816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“Zero hallucinated evidence” is now a measured property under a published validator — not a vibe.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FAILURE CASE 1</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S14: every citation valid — wrong suspect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10</a:t>
            </a:r>
            <a:endParaRPr lang="en-US" sz="1000" dirty="0"/>
          </a:p>
        </p:txBody>
      </p:sp>
      <p:pic>
        <p:nvPicPr>
          <p:cNvPr id="7" name="Image 0" descr="/tmp/fig12_slide.png">    </p:cNvPr>
          <p:cNvPicPr>
            <a:picLocks noChangeAspect="1"/>
          </p:cNvPicPr>
          <p:nvPr/>
        </p:nvPicPr>
        <p:blipFill>
          <a:blip r:embed="rId1"/>
          <a:stretch>
            <a:fillRect/>
          </a:stretch>
        </p:blipFill>
        <p:spPr>
          <a:xfrm>
            <a:off x="502920" y="1627632"/>
            <a:ext cx="5394960" cy="2300792"/>
          </a:xfrm>
          <a:prstGeom prst="rect">
            <a:avLst/>
          </a:prstGeom>
        </p:spPr>
      </p:pic>
      <p:sp>
        <p:nvSpPr>
          <p:cNvPr id="8" name="Shape 4"/>
          <p:cNvSpPr/>
          <p:nvPr/>
        </p:nvSpPr>
        <p:spPr>
          <a:xfrm>
            <a:off x="6126480" y="1691640"/>
            <a:ext cx="2514600" cy="2880360"/>
          </a:xfrm>
          <a:prstGeom prst="rect">
            <a:avLst/>
          </a:prstGeom>
          <a:solidFill>
            <a:srgbClr val="FDEAEA"/>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9" name="Text 5"/>
          <p:cNvSpPr/>
          <p:nvPr/>
        </p:nvSpPr>
        <p:spPr>
          <a:xfrm>
            <a:off x="6309360" y="1828800"/>
            <a:ext cx="2194560" cy="502920"/>
          </a:xfrm>
          <a:prstGeom prst="rect">
            <a:avLst/>
          </a:prstGeom>
          <a:noFill/>
          <a:ln/>
        </p:spPr>
        <p:txBody>
          <a:bodyPr wrap="square" lIns="0" tIns="0" rIns="0" bIns="0" rtlCol="0" anchor="ctr"/>
          <a:lstStyle/>
          <a:p>
            <a:pPr indent="0" marL="0">
              <a:buNone/>
            </a:pPr>
            <a:r>
              <a:rPr lang="en-US" sz="1600" b="1" dirty="0">
                <a:solidFill>
                  <a:srgbClr val="A03030"/>
                </a:solidFill>
                <a:latin typeface="Georgia" pitchFamily="34" charset="0"/>
                <a:ea typeface="Georgia" pitchFamily="34" charset="-122"/>
                <a:cs typeface="Georgia" pitchFamily="34" charset="-120"/>
              </a:rPr>
              <a:t>Grounding ≠ attribution</a:t>
            </a:r>
            <a:endParaRPr lang="en-US" sz="1600" dirty="0"/>
          </a:p>
        </p:txBody>
      </p:sp>
      <p:sp>
        <p:nvSpPr>
          <p:cNvPr id="10" name="Text 6"/>
          <p:cNvSpPr/>
          <p:nvPr/>
        </p:nvSpPr>
        <p:spPr>
          <a:xfrm>
            <a:off x="6309360" y="2377440"/>
            <a:ext cx="2194560" cy="21031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Loud decoy (user_04) draws 21 alerts; quiet attacker (user_02) exfiltrates source code</a:t>
            </a:r>
            <a:endParaRPr lang="en-US" sz="1050" dirty="0"/>
          </a:p>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Verdict YES = correct. Suspect = the decoy.</a:t>
            </a:r>
            <a:endParaRPr lang="en-US" sz="1050" dirty="0"/>
          </a:p>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Validator is silent: every cited event is real and ordered</a:t>
            </a:r>
            <a:endParaRPr lang="en-US" sz="1050" dirty="0"/>
          </a:p>
        </p:txBody>
      </p:sp>
      <p:sp>
        <p:nvSpPr>
          <p:cNvPr id="11" name="Text 7"/>
          <p:cNvSpPr/>
          <p:nvPr/>
        </p:nvSpPr>
        <p:spPr>
          <a:xfrm>
            <a:off x="502920" y="4114800"/>
            <a:ext cx="5394960" cy="457200"/>
          </a:xfrm>
          <a:prstGeom prst="rect">
            <a:avLst/>
          </a:prstGeom>
          <a:noFill/>
          <a:ln/>
        </p:spPr>
        <p:txBody>
          <a:bodyPr wrap="square" lIns="0" tIns="0" rIns="0" bIns="0" rtlCol="0" anchor="ctr"/>
          <a:lstStyle/>
          <a:p>
            <a:pPr indent="0" marL="0">
              <a:buNone/>
            </a:pPr>
            <a:r>
              <a:rPr lang="en-US" sz="1250" b="1" i="1" dirty="0">
                <a:solidFill>
                  <a:srgbClr val="A03030"/>
                </a:solidFill>
                <a:latin typeface="Calibri" pitchFamily="34" charset="0"/>
                <a:ea typeface="Calibri" pitchFamily="34" charset="-122"/>
                <a:cs typeface="Calibri" pitchFamily="34" charset="-120"/>
              </a:rPr>
              <a:t>Citation grounding is necessary — not sufficient — for interpretive correctness.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FAILURE CASE 2</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Rule alerts are not neutral context — but they're not the main culprit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02920" y="1600200"/>
            <a:ext cx="3977640" cy="288036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685800" y="1719072"/>
            <a:ext cx="3657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S15 ablation (5 runs / condition)</a:t>
            </a:r>
            <a:endParaRPr lang="en-US" sz="1300" dirty="0"/>
          </a:p>
        </p:txBody>
      </p:sp>
      <p:sp>
        <p:nvSpPr>
          <p:cNvPr id="9" name="Shape 6"/>
          <p:cNvSpPr/>
          <p:nvPr/>
        </p:nvSpPr>
        <p:spPr>
          <a:xfrm>
            <a:off x="685800" y="2148840"/>
            <a:ext cx="1554480" cy="237744"/>
          </a:xfrm>
          <a:prstGeom prst="rect">
            <a:avLst/>
          </a:prstGeom>
          <a:solidFill>
            <a:srgbClr val="A03030"/>
          </a:solidFill>
          <a:ln/>
        </p:spPr>
      </p:sp>
      <p:sp>
        <p:nvSpPr>
          <p:cNvPr id="10" name="Text 7"/>
          <p:cNvSpPr/>
          <p:nvPr/>
        </p:nvSpPr>
        <p:spPr>
          <a:xfrm>
            <a:off x="685800" y="2148840"/>
            <a:ext cx="155448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with alerts</a:t>
            </a:r>
            <a:endParaRPr lang="en-US" sz="950" dirty="0"/>
          </a:p>
        </p:txBody>
      </p:sp>
      <p:sp>
        <p:nvSpPr>
          <p:cNvPr id="11" name="Text 8"/>
          <p:cNvSpPr/>
          <p:nvPr/>
        </p:nvSpPr>
        <p:spPr>
          <a:xfrm>
            <a:off x="2377440" y="2121408"/>
            <a:ext cx="1920240" cy="292608"/>
          </a:xfrm>
          <a:prstGeom prst="rect">
            <a:avLst/>
          </a:prstGeom>
          <a:noFill/>
          <a:ln/>
        </p:spPr>
        <p:txBody>
          <a:bodyPr wrap="square" lIns="0" tIns="0" rIns="0" bIns="0" rtlCol="0" anchor="ctr"/>
          <a:lstStyle/>
          <a:p>
            <a:pPr indent="0" marL="0">
              <a:buNone/>
            </a:pPr>
            <a:r>
              <a:rPr lang="en-US" sz="1250" b="1" dirty="0">
                <a:solidFill>
                  <a:srgbClr val="A03030"/>
                </a:solidFill>
                <a:latin typeface="Calibri" pitchFamily="34" charset="0"/>
                <a:ea typeface="Calibri" pitchFamily="34" charset="-122"/>
                <a:cs typeface="Calibri" pitchFamily="34" charset="-120"/>
              </a:rPr>
              <a:t>YES × 5  (wrong)</a:t>
            </a:r>
            <a:endParaRPr lang="en-US" sz="1250" dirty="0"/>
          </a:p>
        </p:txBody>
      </p:sp>
      <p:sp>
        <p:nvSpPr>
          <p:cNvPr id="12" name="Shape 9"/>
          <p:cNvSpPr/>
          <p:nvPr/>
        </p:nvSpPr>
        <p:spPr>
          <a:xfrm>
            <a:off x="685800" y="2542032"/>
            <a:ext cx="1554480" cy="237744"/>
          </a:xfrm>
          <a:prstGeom prst="rect">
            <a:avLst/>
          </a:prstGeom>
          <a:solidFill>
            <a:srgbClr val="2E7D52"/>
          </a:solidFill>
          <a:ln/>
        </p:spPr>
      </p:sp>
      <p:sp>
        <p:nvSpPr>
          <p:cNvPr id="13" name="Text 10"/>
          <p:cNvSpPr/>
          <p:nvPr/>
        </p:nvSpPr>
        <p:spPr>
          <a:xfrm>
            <a:off x="685800" y="2542032"/>
            <a:ext cx="155448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without alerts</a:t>
            </a:r>
            <a:endParaRPr lang="en-US" sz="950" dirty="0"/>
          </a:p>
        </p:txBody>
      </p:sp>
      <p:sp>
        <p:nvSpPr>
          <p:cNvPr id="14" name="Text 11"/>
          <p:cNvSpPr/>
          <p:nvPr/>
        </p:nvSpPr>
        <p:spPr>
          <a:xfrm>
            <a:off x="2377440" y="2514600"/>
            <a:ext cx="1920240" cy="292608"/>
          </a:xfrm>
          <a:prstGeom prst="rect">
            <a:avLst/>
          </a:prstGeom>
          <a:noFill/>
          <a:ln/>
        </p:spPr>
        <p:txBody>
          <a:bodyPr wrap="square" lIns="0" tIns="0" rIns="0" bIns="0" rtlCol="0" anchor="ctr"/>
          <a:lstStyle/>
          <a:p>
            <a:pPr indent="0" marL="0">
              <a:buNone/>
            </a:pPr>
            <a:r>
              <a:rPr lang="en-US" sz="1250" b="1" dirty="0">
                <a:solidFill>
                  <a:srgbClr val="2E7D52"/>
                </a:solidFill>
                <a:latin typeface="Calibri" pitchFamily="34" charset="0"/>
                <a:ea typeface="Calibri" pitchFamily="34" charset="-122"/>
                <a:cs typeface="Calibri" pitchFamily="34" charset="-120"/>
              </a:rPr>
              <a:t>NO × 5  (correct)</a:t>
            </a:r>
            <a:endParaRPr lang="en-US" sz="1250" dirty="0"/>
          </a:p>
        </p:txBody>
      </p:sp>
      <p:sp>
        <p:nvSpPr>
          <p:cNvPr id="15" name="Text 12"/>
          <p:cNvSpPr/>
          <p:nvPr/>
        </p:nvSpPr>
        <p:spPr>
          <a:xfrm>
            <a:off x="685800" y="3017520"/>
            <a:ext cx="3657600" cy="1325880"/>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Same model, same timeline. The verdict reverses on the rule-alert artifact alone — the LLM treats upstream alerts as quasi-ground-truth.</a:t>
            </a:r>
            <a:endParaRPr lang="en-US" sz="1150" dirty="0"/>
          </a:p>
        </p:txBody>
      </p:sp>
      <p:sp>
        <p:nvSpPr>
          <p:cNvPr id="16" name="Shape 13"/>
          <p:cNvSpPr/>
          <p:nvPr/>
        </p:nvSpPr>
        <p:spPr>
          <a:xfrm>
            <a:off x="4663440" y="1600200"/>
            <a:ext cx="3977640" cy="288036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7" name="Text 14"/>
          <p:cNvSpPr/>
          <p:nvPr/>
        </p:nvSpPr>
        <p:spPr>
          <a:xfrm>
            <a:off x="4846320" y="1719072"/>
            <a:ext cx="3657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Does it generalize? 44 scenarios × 2 × 5 (440 calls)</a:t>
            </a:r>
            <a:endParaRPr lang="en-US" sz="1300" dirty="0"/>
          </a:p>
        </p:txBody>
      </p:sp>
      <p:sp>
        <p:nvSpPr>
          <p:cNvPr id="18" name="Text 15"/>
          <p:cNvSpPr/>
          <p:nvPr/>
        </p:nvSpPr>
        <p:spPr>
          <a:xfrm>
            <a:off x="4846320" y="2084832"/>
            <a:ext cx="3566160" cy="658368"/>
          </a:xfrm>
          <a:prstGeom prst="rect">
            <a:avLst/>
          </a:prstGeom>
          <a:noFill/>
          <a:ln/>
        </p:spPr>
        <p:txBody>
          <a:bodyPr wrap="square" lIns="0" tIns="0" rIns="0" bIns="0" rtlCol="0" anchor="ctr"/>
          <a:lstStyle/>
          <a:p>
            <a:pPr indent="0" marL="0">
              <a:buNone/>
            </a:pPr>
            <a:r>
              <a:rPr lang="en-US" sz="4000" b="1" dirty="0">
                <a:solidFill>
                  <a:srgbClr val="A07020"/>
                </a:solidFill>
                <a:latin typeface="Georgia" pitchFamily="34" charset="0"/>
                <a:ea typeface="Georgia" pitchFamily="34" charset="-122"/>
                <a:cs typeface="Georgia" pitchFamily="34" charset="-120"/>
              </a:rPr>
              <a:t>6 / 44</a:t>
            </a:r>
            <a:endParaRPr lang="en-US" sz="4000" dirty="0"/>
          </a:p>
        </p:txBody>
      </p:sp>
      <p:sp>
        <p:nvSpPr>
          <p:cNvPr id="19" name="Text 16"/>
          <p:cNvSpPr/>
          <p:nvPr/>
        </p:nvSpPr>
        <p:spPr>
          <a:xfrm>
            <a:off x="4846320" y="2798064"/>
            <a:ext cx="3657600" cy="1554480"/>
          </a:xfrm>
          <a:prstGeom prst="rect">
            <a:avLst/>
          </a:prstGeom>
          <a:noFill/>
          <a:ln/>
        </p:spPr>
        <p:txBody>
          <a:bodyPr wrap="square" lIns="0" tIns="0" rIns="0" bIns="0" rtlCol="0" anchor="ctr"/>
          <a:lstStyle/>
          <a:p>
            <a:pPr indent="0" marL="0">
              <a:buNone/>
            </a:pPr>
            <a:r>
              <a:rPr lang="en-US" sz="1150" dirty="0">
                <a:solidFill>
                  <a:srgbClr val="22293B"/>
                </a:solidFill>
                <a:latin typeface="Calibri" pitchFamily="34" charset="0"/>
                <a:ea typeface="Calibri" pitchFamily="34" charset="-122"/>
                <a:cs typeface="Calibri" pitchFamily="34" charset="-120"/>
              </a:rPr>
              <a:t>verdicts reverse without rule context — real, but a minority mechanism. The dominant benign-FP behavior is a model-intrinsic prior: foreign-IP travel and quarter-end volume read as “attack” even with no alerts in the prompt.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ROBUSTNESS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Stress tests: degrade to abstention, not fabrication</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12</a:t>
            </a:r>
            <a:endParaRPr lang="en-US" sz="1000" dirty="0"/>
          </a:p>
        </p:txBody>
      </p:sp>
      <p:pic>
        <p:nvPicPr>
          <p:cNvPr id="7" name="Image 0" descr="/tmp/fig9_stress_tests.png">    </p:cNvPr>
          <p:cNvPicPr>
            <a:picLocks noChangeAspect="1"/>
          </p:cNvPicPr>
          <p:nvPr/>
        </p:nvPicPr>
        <p:blipFill>
          <a:blip r:embed="rId1"/>
          <a:stretch>
            <a:fillRect/>
          </a:stretch>
        </p:blipFill>
        <p:spPr>
          <a:xfrm>
            <a:off x="502920" y="1783080"/>
            <a:ext cx="5212080" cy="1923990"/>
          </a:xfrm>
          <a:prstGeom prst="rect">
            <a:avLst/>
          </a:prstGeom>
        </p:spPr>
      </p:pic>
      <p:sp>
        <p:nvSpPr>
          <p:cNvPr id="8" name="Shape 4"/>
          <p:cNvSpPr/>
          <p:nvPr/>
        </p:nvSpPr>
        <p:spPr>
          <a:xfrm>
            <a:off x="5897880" y="1746504"/>
            <a:ext cx="164592" cy="164592"/>
          </a:xfrm>
          <a:prstGeom prst="ellipse">
            <a:avLst/>
          </a:prstGeom>
          <a:solidFill>
            <a:srgbClr val="1E2761"/>
          </a:solidFill>
          <a:ln/>
        </p:spPr>
      </p:sp>
      <p:sp>
        <p:nvSpPr>
          <p:cNvPr id="9" name="Text 5"/>
          <p:cNvSpPr/>
          <p:nvPr/>
        </p:nvSpPr>
        <p:spPr>
          <a:xfrm>
            <a:off x="6153912" y="1691640"/>
            <a:ext cx="2514600" cy="7132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Evidence removal — </a:t>
            </a:r>
            <a:pPr indent="0" marL="0">
              <a:buNone/>
            </a:pPr>
            <a:r>
              <a:rPr lang="en-US" sz="1100" dirty="0">
                <a:solidFill>
                  <a:srgbClr val="22293B"/>
                </a:solidFill>
                <a:latin typeface="Calibri" pitchFamily="34" charset="0"/>
                <a:ea typeface="Calibri" pitchFamily="34" charset="-122"/>
                <a:cs typeface="Calibri" pitchFamily="34" charset="-120"/>
              </a:rPr>
              <a:t>correct through 40% removal; 60–80% → INSUFFICIENT</a:t>
            </a:r>
            <a:endParaRPr lang="en-US" sz="1100" dirty="0"/>
          </a:p>
        </p:txBody>
      </p:sp>
      <p:sp>
        <p:nvSpPr>
          <p:cNvPr id="10" name="Shape 6"/>
          <p:cNvSpPr/>
          <p:nvPr/>
        </p:nvSpPr>
        <p:spPr>
          <a:xfrm>
            <a:off x="5897880" y="2505456"/>
            <a:ext cx="164592" cy="164592"/>
          </a:xfrm>
          <a:prstGeom prst="ellipse">
            <a:avLst/>
          </a:prstGeom>
          <a:solidFill>
            <a:srgbClr val="1E2761"/>
          </a:solidFill>
          <a:ln/>
        </p:spPr>
      </p:sp>
      <p:sp>
        <p:nvSpPr>
          <p:cNvPr id="11" name="Text 7"/>
          <p:cNvSpPr/>
          <p:nvPr/>
        </p:nvSpPr>
        <p:spPr>
          <a:xfrm>
            <a:off x="6153912" y="2450592"/>
            <a:ext cx="2514600" cy="7132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Noise injection — </a:t>
            </a:r>
            <a:pPr indent="0" marL="0">
              <a:buNone/>
            </a:pPr>
            <a:r>
              <a:rPr lang="en-US" sz="1100" dirty="0">
                <a:solidFill>
                  <a:srgbClr val="22293B"/>
                </a:solidFill>
                <a:latin typeface="Calibri" pitchFamily="34" charset="0"/>
                <a:ea typeface="Calibri" pitchFamily="34" charset="-122"/>
                <a:cs typeface="Calibri" pitchFamily="34" charset="-120"/>
              </a:rPr>
              <a:t>verdicts stable to 5:1 benign:attack event ratio</a:t>
            </a:r>
            <a:endParaRPr lang="en-US" sz="1100" dirty="0"/>
          </a:p>
        </p:txBody>
      </p:sp>
      <p:sp>
        <p:nvSpPr>
          <p:cNvPr id="12" name="Shape 8"/>
          <p:cNvSpPr/>
          <p:nvPr/>
        </p:nvSpPr>
        <p:spPr>
          <a:xfrm>
            <a:off x="5897880" y="3264408"/>
            <a:ext cx="164592" cy="164592"/>
          </a:xfrm>
          <a:prstGeom prst="ellipse">
            <a:avLst/>
          </a:prstGeom>
          <a:solidFill>
            <a:srgbClr val="1E2761"/>
          </a:solidFill>
          <a:ln/>
        </p:spPr>
      </p:sp>
      <p:sp>
        <p:nvSpPr>
          <p:cNvPr id="13" name="Text 9"/>
          <p:cNvSpPr/>
          <p:nvPr/>
        </p:nvSpPr>
        <p:spPr>
          <a:xfrm>
            <a:off x="6153912" y="3209544"/>
            <a:ext cx="2514600" cy="7132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Timestamp jitter — </a:t>
            </a:r>
            <a:pPr indent="0" marL="0">
              <a:buNone/>
            </a:pPr>
            <a:r>
              <a:rPr lang="en-US" sz="1100" dirty="0">
                <a:solidFill>
                  <a:srgbClr val="22293B"/>
                </a:solidFill>
                <a:latin typeface="Calibri" pitchFamily="34" charset="0"/>
                <a:ea typeface="Calibri" pitchFamily="34" charset="-122"/>
                <a:cs typeface="Calibri" pitchFamily="34" charset="-120"/>
              </a:rPr>
              <a:t>verdicts stable; validator flags perturbed chronology (as designed)</a:t>
            </a:r>
            <a:endParaRPr lang="en-US" sz="1100" dirty="0"/>
          </a:p>
        </p:txBody>
      </p:sp>
      <p:sp>
        <p:nvSpPr>
          <p:cNvPr id="14" name="Shape 10"/>
          <p:cNvSpPr/>
          <p:nvPr/>
        </p:nvSpPr>
        <p:spPr>
          <a:xfrm>
            <a:off x="5897880" y="4023360"/>
            <a:ext cx="164592" cy="164592"/>
          </a:xfrm>
          <a:prstGeom prst="ellipse">
            <a:avLst/>
          </a:prstGeom>
          <a:solidFill>
            <a:srgbClr val="1E2761"/>
          </a:solidFill>
          <a:ln/>
        </p:spPr>
      </p:sp>
      <p:sp>
        <p:nvSpPr>
          <p:cNvPr id="15" name="Text 11"/>
          <p:cNvSpPr/>
          <p:nvPr/>
        </p:nvSpPr>
        <p:spPr>
          <a:xfrm>
            <a:off x="6153912" y="3968496"/>
            <a:ext cx="2514600" cy="7132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Raw logs vs pipeline — </a:t>
            </a:r>
            <a:pPr indent="0" marL="0">
              <a:buNone/>
            </a:pPr>
            <a:r>
              <a:rPr lang="en-US" sz="1100" dirty="0">
                <a:solidFill>
                  <a:srgbClr val="22293B"/>
                </a:solidFill>
                <a:latin typeface="Calibri" pitchFamily="34" charset="0"/>
                <a:ea typeface="Calibri" pitchFamily="34" charset="-122"/>
                <a:cs typeface="Calibri" pitchFamily="34" charset="-120"/>
              </a:rPr>
              <a:t>same verdicts — structuring removes the grounding violations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GENERALIZATION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Third-party data (CERT r4.2): the asymmetry intensifies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02920" y="1554480"/>
            <a:ext cx="3977640" cy="306324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685800" y="1682496"/>
            <a:ext cx="3657600" cy="45720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CERT insiders — independently labeled by CMU, MD5-verified download</a:t>
            </a:r>
            <a:endParaRPr lang="en-US" sz="1150" dirty="0"/>
          </a:p>
        </p:txBody>
      </p:sp>
      <p:sp>
        <p:nvSpPr>
          <p:cNvPr id="9" name="Text 6"/>
          <p:cNvSpPr/>
          <p:nvPr/>
        </p:nvSpPr>
        <p:spPr>
          <a:xfrm>
            <a:off x="685800" y="2212848"/>
            <a:ext cx="3657600" cy="256032"/>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ATTACK windows (n=20)</a:t>
            </a:r>
            <a:endParaRPr lang="en-US" sz="1200" dirty="0"/>
          </a:p>
        </p:txBody>
      </p:sp>
      <p:sp>
        <p:nvSpPr>
          <p:cNvPr id="10" name="Shape 7"/>
          <p:cNvSpPr/>
          <p:nvPr/>
        </p:nvSpPr>
        <p:spPr>
          <a:xfrm>
            <a:off x="685800" y="2487168"/>
            <a:ext cx="3657600" cy="310896"/>
          </a:xfrm>
          <a:prstGeom prst="rect">
            <a:avLst/>
          </a:prstGeom>
          <a:solidFill>
            <a:srgbClr val="ECEFF5"/>
          </a:solidFill>
          <a:ln/>
        </p:spPr>
      </p:sp>
      <p:sp>
        <p:nvSpPr>
          <p:cNvPr id="11" name="Shape 8"/>
          <p:cNvSpPr/>
          <p:nvPr/>
        </p:nvSpPr>
        <p:spPr>
          <a:xfrm>
            <a:off x="685800" y="2487168"/>
            <a:ext cx="3657600" cy="310896"/>
          </a:xfrm>
          <a:prstGeom prst="rect">
            <a:avLst/>
          </a:prstGeom>
          <a:solidFill>
            <a:srgbClr val="2E7D52"/>
          </a:solidFill>
          <a:ln/>
        </p:spPr>
      </p:sp>
      <p:sp>
        <p:nvSpPr>
          <p:cNvPr id="12" name="Text 9"/>
          <p:cNvSpPr/>
          <p:nvPr/>
        </p:nvSpPr>
        <p:spPr>
          <a:xfrm>
            <a:off x="777240" y="2487168"/>
            <a:ext cx="347472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Gemma 100%   ·   Rules 0%</a:t>
            </a:r>
            <a:endParaRPr lang="en-US" sz="1150" dirty="0"/>
          </a:p>
        </p:txBody>
      </p:sp>
      <p:sp>
        <p:nvSpPr>
          <p:cNvPr id="13" name="Text 10"/>
          <p:cNvSpPr/>
          <p:nvPr/>
        </p:nvSpPr>
        <p:spPr>
          <a:xfrm>
            <a:off x="685800" y="2926080"/>
            <a:ext cx="3657600" cy="256032"/>
          </a:xfrm>
          <a:prstGeom prst="rect">
            <a:avLst/>
          </a:prstGeom>
          <a:noFill/>
          <a:ln/>
        </p:spPr>
        <p:txBody>
          <a:bodyPr wrap="square" lIns="0" tIns="0" rIns="0" bIns="0" rtlCol="0" anchor="ctr"/>
          <a:lstStyle/>
          <a:p>
            <a:pPr indent="0" marL="0">
              <a:buNone/>
            </a:pPr>
            <a:r>
              <a:rPr lang="en-US" sz="1200" b="1" dirty="0">
                <a:solidFill>
                  <a:srgbClr val="22293B"/>
                </a:solidFill>
                <a:latin typeface="Calibri" pitchFamily="34" charset="0"/>
                <a:ea typeface="Calibri" pitchFamily="34" charset="-122"/>
                <a:cs typeface="Calibri" pitchFamily="34" charset="-120"/>
              </a:rPr>
              <a:t>BENIGN windows (n=15)</a:t>
            </a:r>
            <a:endParaRPr lang="en-US" sz="1200" dirty="0"/>
          </a:p>
        </p:txBody>
      </p:sp>
      <p:sp>
        <p:nvSpPr>
          <p:cNvPr id="14" name="Shape 11"/>
          <p:cNvSpPr/>
          <p:nvPr/>
        </p:nvSpPr>
        <p:spPr>
          <a:xfrm>
            <a:off x="685800" y="3200400"/>
            <a:ext cx="3657600" cy="310896"/>
          </a:xfrm>
          <a:prstGeom prst="rect">
            <a:avLst/>
          </a:prstGeom>
          <a:solidFill>
            <a:srgbClr val="ECEFF5"/>
          </a:solidFill>
          <a:ln/>
        </p:spPr>
      </p:sp>
      <p:sp>
        <p:nvSpPr>
          <p:cNvPr id="15" name="Shape 12"/>
          <p:cNvSpPr/>
          <p:nvPr/>
        </p:nvSpPr>
        <p:spPr>
          <a:xfrm>
            <a:off x="685800" y="3200400"/>
            <a:ext cx="3657600" cy="310896"/>
          </a:xfrm>
          <a:prstGeom prst="rect">
            <a:avLst/>
          </a:prstGeom>
          <a:solidFill>
            <a:srgbClr val="A03030"/>
          </a:solidFill>
          <a:ln/>
        </p:spPr>
      </p:sp>
      <p:sp>
        <p:nvSpPr>
          <p:cNvPr id="16" name="Text 13"/>
          <p:cNvSpPr/>
          <p:nvPr/>
        </p:nvSpPr>
        <p:spPr>
          <a:xfrm>
            <a:off x="777240" y="3200400"/>
            <a:ext cx="34747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Rules 100%   ·   Gemma near-0% (≤2/15)</a:t>
            </a:r>
            <a:endParaRPr lang="en-US" sz="1100" dirty="0"/>
          </a:p>
        </p:txBody>
      </p:sp>
      <p:sp>
        <p:nvSpPr>
          <p:cNvPr id="17" name="Text 14"/>
          <p:cNvSpPr/>
          <p:nvPr/>
        </p:nvSpPr>
        <p:spPr>
          <a:xfrm>
            <a:off x="685800" y="3657600"/>
            <a:ext cx="3657600" cy="868680"/>
          </a:xfrm>
          <a:prstGeom prst="rect">
            <a:avLst/>
          </a:prstGeom>
          <a:noFill/>
          <a:ln/>
        </p:spPr>
        <p:txBody>
          <a:bodyPr wrap="square" lIns="0" tIns="0" rIns="0" bIns="0" rtlCol="0" anchor="ctr"/>
          <a:lstStyle/>
          <a:p>
            <a:pPr indent="0" marL="0">
              <a:buNone/>
            </a:pPr>
            <a:r>
              <a:rPr lang="en-US" sz="950" dirty="0">
                <a:solidFill>
                  <a:srgbClr val="A03030"/>
                </a:solidFill>
                <a:latin typeface="Calibri" pitchFamily="34" charset="0"/>
                <a:ea typeface="Calibri" pitchFamily="34" charset="-122"/>
                <a:cs typeface="Calibri" pitchFamily="34" charset="-120"/>
              </a:rPr>
              <a:t>Honest caveat: on the richer CERT inputs the model returned Markdown, not JSON, in 34/35 windows — verdicts parsed from prose; structured grounding could be checked on only the 1 JSON response (20/20 valid). Not a grounding result at scale.</a:t>
            </a:r>
            <a:endParaRPr lang="en-US" sz="950" dirty="0"/>
          </a:p>
        </p:txBody>
      </p:sp>
      <p:sp>
        <p:nvSpPr>
          <p:cNvPr id="18" name="Shape 15"/>
          <p:cNvSpPr/>
          <p:nvPr/>
        </p:nvSpPr>
        <p:spPr>
          <a:xfrm>
            <a:off x="4663440" y="1554480"/>
            <a:ext cx="3977640" cy="91440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9" name="Shape 16"/>
          <p:cNvSpPr/>
          <p:nvPr/>
        </p:nvSpPr>
        <p:spPr>
          <a:xfrm>
            <a:off x="4663440" y="1554480"/>
            <a:ext cx="82296" cy="914400"/>
          </a:xfrm>
          <a:prstGeom prst="rect">
            <a:avLst/>
          </a:prstGeom>
          <a:solidFill>
            <a:srgbClr val="2E7D52"/>
          </a:solidFill>
          <a:ln/>
        </p:spPr>
      </p:sp>
      <p:sp>
        <p:nvSpPr>
          <p:cNvPr id="20" name="Text 17"/>
          <p:cNvSpPr/>
          <p:nvPr/>
        </p:nvSpPr>
        <p:spPr>
          <a:xfrm>
            <a:off x="4864608" y="1645920"/>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Q1  Does the recall / FP asymmetry replicate?</a:t>
            </a:r>
            <a:endParaRPr lang="en-US" sz="1200" dirty="0"/>
          </a:p>
        </p:txBody>
      </p:sp>
      <p:sp>
        <p:nvSpPr>
          <p:cNvPr id="21" name="Text 18"/>
          <p:cNvSpPr/>
          <p:nvPr/>
        </p:nvSpPr>
        <p:spPr>
          <a:xfrm>
            <a:off x="4864608" y="1938528"/>
            <a:ext cx="3657600" cy="475488"/>
          </a:xfrm>
          <a:prstGeom prst="rect">
            <a:avLst/>
          </a:prstGeom>
          <a:noFill/>
          <a:ln/>
        </p:spPr>
        <p:txBody>
          <a:bodyPr wrap="square" lIns="0" tIns="0" rIns="0" bIns="0" rtlCol="0" anchor="ctr"/>
          <a:lstStyle/>
          <a:p>
            <a:pPr indent="0" marL="0">
              <a:buNone/>
            </a:pPr>
            <a:r>
              <a:rPr lang="en-US" sz="1050" dirty="0">
                <a:solidFill>
                  <a:srgbClr val="22293B"/>
                </a:solidFill>
                <a:latin typeface="Calibri" pitchFamily="34" charset="0"/>
                <a:ea typeface="Calibri" pitchFamily="34" charset="-122"/>
                <a:cs typeface="Calibri" pitchFamily="34" charset="-120"/>
              </a:rPr>
              <a:t>Yes — and it widens. Benign-accuracy gap: 50pp on synthetic holdout → ≥87pp on CERT.</a:t>
            </a:r>
            <a:endParaRPr lang="en-US" sz="1050" dirty="0"/>
          </a:p>
        </p:txBody>
      </p:sp>
      <p:sp>
        <p:nvSpPr>
          <p:cNvPr id="22" name="Shape 19"/>
          <p:cNvSpPr/>
          <p:nvPr/>
        </p:nvSpPr>
        <p:spPr>
          <a:xfrm>
            <a:off x="4663440" y="2615184"/>
            <a:ext cx="3977640" cy="91440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3" name="Shape 20"/>
          <p:cNvSpPr/>
          <p:nvPr/>
        </p:nvSpPr>
        <p:spPr>
          <a:xfrm>
            <a:off x="4663440" y="2615184"/>
            <a:ext cx="82296" cy="914400"/>
          </a:xfrm>
          <a:prstGeom prst="rect">
            <a:avLst/>
          </a:prstGeom>
          <a:solidFill>
            <a:srgbClr val="2E7D52"/>
          </a:solidFill>
          <a:ln/>
        </p:spPr>
      </p:sp>
      <p:sp>
        <p:nvSpPr>
          <p:cNvPr id="24" name="Text 21"/>
          <p:cNvSpPr/>
          <p:nvPr/>
        </p:nvSpPr>
        <p:spPr>
          <a:xfrm>
            <a:off x="4864608" y="2706624"/>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Q2  Does multi-day insider recall hold?</a:t>
            </a:r>
            <a:endParaRPr lang="en-US" sz="1200" dirty="0"/>
          </a:p>
        </p:txBody>
      </p:sp>
      <p:sp>
        <p:nvSpPr>
          <p:cNvPr id="25" name="Text 22"/>
          <p:cNvSpPr/>
          <p:nvPr/>
        </p:nvSpPr>
        <p:spPr>
          <a:xfrm>
            <a:off x="4864608" y="2999232"/>
            <a:ext cx="3657600" cy="475488"/>
          </a:xfrm>
          <a:prstGeom prst="rect">
            <a:avLst/>
          </a:prstGeom>
          <a:noFill/>
          <a:ln/>
        </p:spPr>
        <p:txBody>
          <a:bodyPr wrap="square" lIns="0" tIns="0" rIns="0" bIns="0" rtlCol="0" anchor="ctr"/>
          <a:lstStyle/>
          <a:p>
            <a:pPr indent="0" marL="0">
              <a:buNone/>
            </a:pPr>
            <a:r>
              <a:rPr lang="en-US" sz="1050" dirty="0">
                <a:solidFill>
                  <a:srgbClr val="22293B"/>
                </a:solidFill>
                <a:latin typeface="Calibri" pitchFamily="34" charset="0"/>
                <a:ea typeface="Calibri" pitchFamily="34" charset="-122"/>
                <a:cs typeface="Calibri" pitchFamily="34" charset="-120"/>
              </a:rPr>
              <a:t>Yes. 100% (20/20) across CERT insider scenario types 1, 2, 3 — real labeled insiders, not designed cases.</a:t>
            </a:r>
            <a:endParaRPr lang="en-US" sz="1050" dirty="0"/>
          </a:p>
        </p:txBody>
      </p:sp>
      <p:sp>
        <p:nvSpPr>
          <p:cNvPr id="26" name="Shape 23"/>
          <p:cNvSpPr/>
          <p:nvPr/>
        </p:nvSpPr>
        <p:spPr>
          <a:xfrm>
            <a:off x="4663440" y="3703320"/>
            <a:ext cx="3977640" cy="896112"/>
          </a:xfrm>
          <a:prstGeom prst="rect">
            <a:avLst/>
          </a:prstGeom>
          <a:solidFill>
            <a:srgbClr val="1E2761"/>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27" name="Text 24"/>
          <p:cNvSpPr/>
          <p:nvPr/>
        </p:nvSpPr>
        <p:spPr>
          <a:xfrm>
            <a:off x="4846320" y="3776472"/>
            <a:ext cx="3657600" cy="7498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The “authors built everything” critique is answered: an independent CMU corpus, same pipeline and frozen prompt, reproduces the result — 100% attack recall AND near-total benign false positives (≥13 of 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algn="ctr" indent="0" marL="0">
              <a:buNone/>
            </a:pPr>
            <a:r>
              <a:rPr lang="en-US" sz="1050" b="1" spc="200" kern="0" dirty="0">
                <a:solidFill>
                  <a:srgbClr val="CADCFC"/>
                </a:solidFill>
                <a:latin typeface="Calibri" pitchFamily="34" charset="0"/>
                <a:ea typeface="Calibri" pitchFamily="34" charset="-122"/>
                <a:cs typeface="Calibri" pitchFamily="34" charset="-120"/>
              </a:rPr>
              <a:t>LIMITATIONS &amp; NEXT</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What this proves — and what's next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02920" y="1600200"/>
            <a:ext cx="3977640" cy="297180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8" name="Text 5"/>
          <p:cNvSpPr/>
          <p:nvPr/>
        </p:nvSpPr>
        <p:spPr>
          <a:xfrm>
            <a:off x="685800" y="1719072"/>
            <a:ext cx="3657600" cy="320040"/>
          </a:xfrm>
          <a:prstGeom prst="rect">
            <a:avLst/>
          </a:prstGeom>
          <a:noFill/>
          <a:ln/>
        </p:spPr>
        <p:txBody>
          <a:bodyPr wrap="square" lIns="0" tIns="0" rIns="0" bIns="0" rtlCol="0" anchor="ctr"/>
          <a:lstStyle/>
          <a:p>
            <a:pPr indent="0" marL="0">
              <a:buNone/>
            </a:pPr>
            <a:r>
              <a:rPr lang="en-US" sz="1350" b="1" dirty="0">
                <a:solidFill>
                  <a:srgbClr val="A03030"/>
                </a:solidFill>
                <a:latin typeface="Calibri" pitchFamily="34" charset="0"/>
                <a:ea typeface="Calibri" pitchFamily="34" charset="-122"/>
                <a:cs typeface="Calibri" pitchFamily="34" charset="-120"/>
              </a:rPr>
              <a:t>Honest boundaries</a:t>
            </a:r>
            <a:endParaRPr lang="en-US" sz="1350" dirty="0"/>
          </a:p>
        </p:txBody>
      </p:sp>
      <p:sp>
        <p:nvSpPr>
          <p:cNvPr id="9" name="Text 6"/>
          <p:cNvSpPr/>
          <p:nvPr/>
        </p:nvSpPr>
        <p:spPr>
          <a:xfrm>
            <a:off x="685800" y="2121408"/>
            <a:ext cx="3657600" cy="237744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Single model (Gemma) — now the dominant limitation; the benign-FP prior may be model-specific</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Synthetic + partial 3rd-party (CERT auth/file/email/http/device; 35 of 40 windows scored)</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Rules not re-tuned for CERT vocabulary — its benign-mapping inflates rule “accuracy”</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Validator cannot catch wrong-suspect-with-real-evidence (S14)</a:t>
            </a:r>
            <a:endParaRPr lang="en-US" sz="1100" dirty="0"/>
          </a:p>
        </p:txBody>
      </p:sp>
      <p:sp>
        <p:nvSpPr>
          <p:cNvPr id="10" name="Shape 7"/>
          <p:cNvSpPr/>
          <p:nvPr/>
        </p:nvSpPr>
        <p:spPr>
          <a:xfrm>
            <a:off x="4663440" y="1600200"/>
            <a:ext cx="3977640" cy="2971800"/>
          </a:xfrm>
          <a:prstGeom prst="rect">
            <a:avLst/>
          </a:prstGeom>
          <a:solidFill>
            <a:srgbClr val="FFFFFF"/>
          </a:solidFill>
          <a:ln w="9525">
            <a:solidFill>
              <a:srgbClr val="E1E6F0"/>
            </a:solidFill>
            <a:prstDash val="solid"/>
          </a:ln>
          <a:effectLst>
            <a:outerShdw sx="100000" sy="100000" kx="0" ky="0" algn="bl" rotWithShape="0" blurRad="88900" dist="25400" dir="8100000">
              <a:srgbClr val="1E2761">
                <a:alpha val="18000"/>
              </a:srgbClr>
            </a:outerShdw>
          </a:effectLst>
        </p:spPr>
      </p:sp>
      <p:sp>
        <p:nvSpPr>
          <p:cNvPr id="11" name="Text 8"/>
          <p:cNvSpPr/>
          <p:nvPr/>
        </p:nvSpPr>
        <p:spPr>
          <a:xfrm>
            <a:off x="4846320" y="1719072"/>
            <a:ext cx="3657600" cy="320040"/>
          </a:xfrm>
          <a:prstGeom prst="rect">
            <a:avLst/>
          </a:prstGeom>
          <a:noFill/>
          <a:ln/>
        </p:spPr>
        <p:txBody>
          <a:bodyPr wrap="square" lIns="0" tIns="0" rIns="0" bIns="0" rtlCol="0" anchor="ctr"/>
          <a:lstStyle/>
          <a:p>
            <a:pPr indent="0" marL="0">
              <a:buNone/>
            </a:pPr>
            <a:r>
              <a:rPr lang="en-US" sz="1350" b="1" dirty="0">
                <a:solidFill>
                  <a:srgbClr val="2E7D52"/>
                </a:solidFill>
                <a:latin typeface="Calibri" pitchFamily="34" charset="0"/>
                <a:ea typeface="Calibri" pitchFamily="34" charset="-122"/>
                <a:cs typeface="Calibri" pitchFamily="34" charset="-120"/>
              </a:rPr>
              <a:t>Next axes</a:t>
            </a:r>
            <a:endParaRPr lang="en-US" sz="1350" dirty="0"/>
          </a:p>
        </p:txBody>
      </p:sp>
      <p:sp>
        <p:nvSpPr>
          <p:cNvPr id="12" name="Text 9"/>
          <p:cNvSpPr/>
          <p:nvPr/>
        </p:nvSpPr>
        <p:spPr>
          <a:xfrm>
            <a:off x="4846320" y="2121408"/>
            <a:ext cx="3657600" cy="2377440"/>
          </a:xfrm>
          <a:prstGeom prst="rect">
            <a:avLst/>
          </a:prstGeom>
          <a:noFill/>
          <a:ln/>
        </p:spPr>
        <p:txBody>
          <a:bodyPr wrap="square" lIns="0" tIns="0" rIns="0" bIns="0" rtlCol="0" anchor="ctr"/>
          <a:lstStyle/>
          <a:p>
            <a:pPr marL="342900" indent="-342900">
              <a:spcAft>
                <a:spcPts val="700"/>
              </a:spcAft>
              <a:buSzPct val="100000"/>
              <a:buChar char="•"/>
            </a:pPr>
            <a:r>
              <a:rPr lang="en-US" sz="1100" b="1" dirty="0">
                <a:solidFill>
                  <a:srgbClr val="22293B"/>
                </a:solidFill>
                <a:latin typeface="Calibri" pitchFamily="34" charset="0"/>
                <a:ea typeface="Calibri" pitchFamily="34" charset="-122"/>
                <a:cs typeface="Calibri" pitchFamily="34" charset="-120"/>
              </a:rPr>
              <a:t>Multi-model replication (Llama / Mistral) — isolate model-specific vs general behavior</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Finish the 5 outage-dropped CERT windows (pipeline is resumable)</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LANL real-enterprise auth replay — adapter built &amp; tested</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Multi-suspect hypothesis tracking — the S14 countermeasure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3" name="Text 0"/>
          <p:cNvSpPr/>
          <p:nvPr/>
        </p:nvSpPr>
        <p:spPr>
          <a:xfrm>
            <a:off x="640080" y="502920"/>
            <a:ext cx="7863840" cy="64008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supported role for LLMs in forensics</a:t>
            </a:r>
            <a:endParaRPr lang="en-US" sz="2600" dirty="0"/>
          </a:p>
        </p:txBody>
      </p:sp>
      <p:sp>
        <p:nvSpPr>
          <p:cNvPr id="4" name="Shape 1"/>
          <p:cNvSpPr/>
          <p:nvPr/>
        </p:nvSpPr>
        <p:spPr>
          <a:xfrm>
            <a:off x="640080" y="1371600"/>
            <a:ext cx="7863840" cy="822960"/>
          </a:xfrm>
          <a:prstGeom prst="rect">
            <a:avLst/>
          </a:prstGeom>
          <a:solidFill>
            <a:srgbClr val="2A3878"/>
          </a:solidFill>
          <a:ln w="9525">
            <a:solidFill>
              <a:srgbClr val="44558F"/>
            </a:solidFill>
            <a:prstDash val="solid"/>
          </a:ln>
        </p:spPr>
      </p:sp>
      <p:sp>
        <p:nvSpPr>
          <p:cNvPr id="5" name="Text 2"/>
          <p:cNvSpPr/>
          <p:nvPr/>
        </p:nvSpPr>
        <p:spPr>
          <a:xfrm>
            <a:off x="868680" y="1463040"/>
            <a:ext cx="74066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Bounded reasoning, not autonomous detection</a:t>
            </a:r>
            <a:endParaRPr lang="en-US" sz="1450" dirty="0"/>
          </a:p>
        </p:txBody>
      </p:sp>
      <p:sp>
        <p:nvSpPr>
          <p:cNvPr id="6" name="Text 3"/>
          <p:cNvSpPr/>
          <p:nvPr/>
        </p:nvSpPr>
        <p:spPr>
          <a:xfrm>
            <a:off x="868680" y="1792224"/>
            <a:ext cx="740664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candidate verdict + chain + suspect, every claim cited, analyst decides</a:t>
            </a:r>
            <a:endParaRPr lang="en-US" sz="1150" dirty="0"/>
          </a:p>
        </p:txBody>
      </p:sp>
      <p:sp>
        <p:nvSpPr>
          <p:cNvPr id="7" name="Shape 4"/>
          <p:cNvSpPr/>
          <p:nvPr/>
        </p:nvSpPr>
        <p:spPr>
          <a:xfrm>
            <a:off x="640080" y="2340864"/>
            <a:ext cx="7863840" cy="822960"/>
          </a:xfrm>
          <a:prstGeom prst="rect">
            <a:avLst/>
          </a:prstGeom>
          <a:solidFill>
            <a:srgbClr val="2A3878"/>
          </a:solidFill>
          <a:ln w="9525">
            <a:solidFill>
              <a:srgbClr val="44558F"/>
            </a:solidFill>
            <a:prstDash val="solid"/>
          </a:ln>
        </p:spPr>
      </p:sp>
      <p:sp>
        <p:nvSpPr>
          <p:cNvPr id="8" name="Text 5"/>
          <p:cNvSpPr/>
          <p:nvPr/>
        </p:nvSpPr>
        <p:spPr>
          <a:xfrm>
            <a:off x="868680" y="2432304"/>
            <a:ext cx="74066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Rules and LLM are complements</a:t>
            </a:r>
            <a:endParaRPr lang="en-US" sz="1450" dirty="0"/>
          </a:p>
        </p:txBody>
      </p:sp>
      <p:sp>
        <p:nvSpPr>
          <p:cNvPr id="9" name="Text 6"/>
          <p:cNvSpPr/>
          <p:nvPr/>
        </p:nvSpPr>
        <p:spPr>
          <a:xfrm>
            <a:off x="868680" y="2761488"/>
            <a:ext cx="740664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rules: cheap, deterministic triggers · LLM: 100% attack recall on synthetic AND real CERT insiders — at a benign-FP cost</a:t>
            </a:r>
            <a:endParaRPr lang="en-US" sz="1150" dirty="0"/>
          </a:p>
        </p:txBody>
      </p:sp>
      <p:sp>
        <p:nvSpPr>
          <p:cNvPr id="10" name="Shape 7"/>
          <p:cNvSpPr/>
          <p:nvPr/>
        </p:nvSpPr>
        <p:spPr>
          <a:xfrm>
            <a:off x="640080" y="3310128"/>
            <a:ext cx="7863840" cy="822960"/>
          </a:xfrm>
          <a:prstGeom prst="rect">
            <a:avLst/>
          </a:prstGeom>
          <a:solidFill>
            <a:srgbClr val="2A3878"/>
          </a:solidFill>
          <a:ln w="9525">
            <a:solidFill>
              <a:srgbClr val="44558F"/>
            </a:solidFill>
            <a:prstDash val="solid"/>
          </a:ln>
        </p:spPr>
      </p:sp>
      <p:sp>
        <p:nvSpPr>
          <p:cNvPr id="11" name="Text 8"/>
          <p:cNvSpPr/>
          <p:nvPr/>
        </p:nvSpPr>
        <p:spPr>
          <a:xfrm>
            <a:off x="868680" y="3401568"/>
            <a:ext cx="74066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Validate mechanically, keep the failures</a:t>
            </a:r>
            <a:endParaRPr lang="en-US" sz="1450" dirty="0"/>
          </a:p>
        </p:txBody>
      </p:sp>
      <p:sp>
        <p:nvSpPr>
          <p:cNvPr id="12" name="Text 9"/>
          <p:cNvSpPr/>
          <p:nvPr/>
        </p:nvSpPr>
        <p:spPr>
          <a:xfrm>
            <a:off x="868680" y="3730752"/>
            <a:ext cx="740664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99.95% citation validity on the 115-scenario corpus; S14, S15 &amp; CERT format-drift mark exactly where it breaks</a:t>
            </a:r>
            <a:endParaRPr lang="en-US" sz="1150" dirty="0"/>
          </a:p>
        </p:txBody>
      </p:sp>
      <p:sp>
        <p:nvSpPr>
          <p:cNvPr id="13" name="Text 10"/>
          <p:cNvSpPr/>
          <p:nvPr/>
        </p:nvSpPr>
        <p:spPr>
          <a:xfrm>
            <a:off x="640080" y="4434840"/>
            <a:ext cx="768096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Thank you.  </a:t>
            </a:r>
            <a:pPr indent="0" marL="0">
              <a:buNone/>
            </a:pPr>
            <a:r>
              <a:rPr lang="en-US" sz="1150" dirty="0">
                <a:solidFill>
                  <a:srgbClr val="CADCFC"/>
                </a:solidFill>
                <a:latin typeface="Calibri" pitchFamily="34" charset="0"/>
                <a:ea typeface="Calibri" pitchFamily="34" charset="-122"/>
                <a:cs typeface="Calibri" pitchFamily="34" charset="-120"/>
              </a:rPr>
              <a:t>Artifacts: 115-scenario corpus · frozen prompts &amp; rules · validator · statistics — all reproducible.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Evidence-Grounded LLM Reasoning for Private-Cloud Forensic Triage</dc:title>
  <dc:subject>PptxGenJS Presentation</dc:subject>
  <dc:creator>Md. Nazmul Hasan</dc:creator>
  <cp:lastModifiedBy>Md. Nazmul Hasan</cp:lastModifiedBy>
  <cp:revision>1</cp:revision>
  <dcterms:created xsi:type="dcterms:W3CDTF">2026-06-08T12:29:43Z</dcterms:created>
  <dcterms:modified xsi:type="dcterms:W3CDTF">2026-06-08T12:29:43Z</dcterms:modified>
</cp:coreProperties>
</file>